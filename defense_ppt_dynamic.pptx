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  <p:defaultTextStyle>
    <a:defPPr/>
    <a:lvl1pPr marL="0" indent="0">
      <a:defRPr sz="1800"/>
    </a:lvl1pPr>
    <a:lvl2pPr marL="457200" indent="0">
      <a:defRPr sz="1600"/>
    </a:lvl2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 b="1"/>
      </a:lvl1pPr>
    </p:titleStyle>
    <p:bodyStyle>
      <a:lvl1pPr marL="0" indent="0">
        <a:defRPr sz="1800"/>
      </a:lvl1pPr>
    </p:bodyStyle>
    <p:otherStyle>
      <a:lvl1pPr marL="0" indent="0">
        <a:defRPr sz="16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960120" y="1234440"/>
            <a:ext cx="6035040" cy="2423160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1234440" y="155448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1B4F8F"/>
                </a:solidFill>
                <a:latin typeface="Microsoft YaHei"/>
                <a:ea typeface="Microsoft YaHei"/>
                <a:cs typeface="Microsoft YaHei"/>
              </a:rPr>
              <a:t>基于 ESP32 的农业智能助手</a:t>
            </a:r>
            <a:endParaRPr lang="zh-CN" sz="2600"/>
          </a:p>
          <a:p>
            <a:pPr algn="l"/>
            <a:r>
              <a:rPr lang="zh-CN" sz="2600" b="1">
                <a:solidFill>
                  <a:srgbClr val="1B4F8F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  <a:endParaRPr lang="zh-CN" sz="2600"/>
          </a:p>
        </p:txBody>
      </p:sp>
      <p:sp>
        <p:nvSpPr>
          <p:cNvPr id="5" name="Subtitle"/>
          <p:cNvSpPr txBox="1"/>
          <p:nvPr/>
        </p:nvSpPr>
        <p:spPr>
          <a:xfrm>
            <a:off x="1261872" y="278892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700" b="1">
                <a:solidFill>
                  <a:srgbClr val="355E86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  <a:endParaRPr lang="zh-CN" sz="1700"/>
          </a:p>
          <a:p>
            <a:pPr algn="l"/>
            <a:r>
              <a:rPr lang="zh-CN" sz="125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围绕多源感知、远程通信与设备维护展开</a:t>
            </a:r>
            <a:endParaRPr lang="zh-CN" sz="1250"/>
          </a:p>
          <a:p>
            <a:pPr algn="l"/>
            <a:r>
              <a:rPr lang="zh-CN" sz="12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2026.05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RightBase"/>
          <p:cNvSpPr/>
          <p:nvPr/>
        </p:nvSpPr>
        <p:spPr>
          <a:xfrm>
            <a:off x="6400800" y="0"/>
            <a:ext cx="5806440" cy="6858000"/>
          </a:xfrm>
          <a:prstGeom prst="rect">
            <a:avLst/>
          </a:prstGeom>
          <a:solidFill>
            <a:srgbClr val="103D73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4389120" cy="6858000"/>
          </a:xfrm>
          <a:prstGeom prst="rect">
            <a:avLst/>
          </a:prstGeom>
        </p:spPr>
      </p:pic>
      <p:sp>
        <p:nvSpPr>
          <p:cNvPr id="5" name="ImageOverlay"/>
          <p:cNvSpPr/>
          <p:nvPr/>
        </p:nvSpPr>
        <p:spPr>
          <a:xfrm>
            <a:off x="6583680" y="0"/>
            <a:ext cx="4389120" cy="6858000"/>
          </a:xfrm>
          <a:prstGeom prst="rect">
            <a:avLst/>
          </a:prstGeom>
          <a:solidFill>
            <a:srgbClr val="103D73">
              <a:alpha val="36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" name="Eyebrow"/>
          <p:cNvSpPr txBox="1"/>
          <p:nvPr/>
        </p:nvSpPr>
        <p:spPr>
          <a:xfrm>
            <a:off x="731520" y="6583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50" b="1">
                <a:solidFill>
                  <a:srgbClr val="6D87A1"/>
                </a:solidFill>
                <a:latin typeface="Microsoft YaHei"/>
                <a:ea typeface="Microsoft YaHei"/>
                <a:cs typeface="Microsoft YaHei"/>
              </a:rPr>
              <a:t>DEFENSE OUTLINE</a:t>
            </a:r>
            <a:endParaRPr lang="zh-CN" sz="1050"/>
          </a:p>
        </p:txBody>
      </p:sp>
      <p:sp>
        <p:nvSpPr>
          <p:cNvPr id="7" name="Title"/>
          <p:cNvSpPr txBox="1"/>
          <p:nvPr/>
        </p:nvSpPr>
        <p:spPr>
          <a:xfrm>
            <a:off x="731520" y="932688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300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答辩结构</a:t>
            </a:r>
            <a:endParaRPr lang="zh-CN" sz="3000"/>
          </a:p>
        </p:txBody>
      </p:sp>
      <p:sp>
        <p:nvSpPr>
          <p:cNvPr id="8" name="Desc"/>
          <p:cNvSpPr txBox="1"/>
          <p:nvPr/>
        </p:nvSpPr>
        <p:spPr>
          <a:xfrm>
            <a:off x="749808" y="1572768"/>
            <a:ext cx="53949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450">
                <a:solidFill>
                  <a:srgbClr val="586A7C"/>
                </a:solidFill>
                <a:latin typeface="Microsoft YaHei"/>
                <a:ea typeface="Microsoft YaHei"/>
                <a:cs typeface="Microsoft YaHei"/>
              </a:rPr>
              <a:t>这版把研究思路、系统设计、关键实现和测试结论，尽量讲成一条更顺的主线</a:t>
            </a:r>
            <a:endParaRPr lang="zh-CN" sz="1450"/>
          </a:p>
        </p:txBody>
      </p:sp>
      <p:sp>
        <p:nvSpPr>
          <p:cNvPr id="10" name="SectionNo0"/>
          <p:cNvSpPr txBox="1"/>
          <p:nvPr/>
        </p:nvSpPr>
        <p:spPr>
          <a:xfrm>
            <a:off x="749808" y="2331720"/>
            <a:ext cx="713232" cy="713232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2200"/>
          </a:p>
        </p:txBody>
      </p:sp>
      <p:sp>
        <p:nvSpPr>
          <p:cNvPr id="11" name="SectionCard0"/>
          <p:cNvSpPr txBox="1"/>
          <p:nvPr/>
        </p:nvSpPr>
        <p:spPr>
          <a:xfrm>
            <a:off x="1627632" y="2286000"/>
            <a:ext cx="4526280" cy="868680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128016" tIns="91440" rIns="128016" bIns="73152" anchor="ctr"/>
          <a:lstStyle/>
          <a:p>
            <a:pPr algn="l"/>
            <a:r>
              <a:rPr lang="zh-CN" sz="185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为什么要做</a:t>
            </a:r>
            <a:endParaRPr lang="zh-CN" sz="1850"/>
          </a:p>
          <a:p>
            <a:pPr algn="l"/>
            <a:r>
              <a:rPr lang="zh-CN" sz="1280">
                <a:solidFill>
                  <a:srgbClr val="425464"/>
                </a:solidFill>
                <a:latin typeface="Microsoft YaHei"/>
                <a:ea typeface="Microsoft YaHei"/>
                <a:cs typeface="Microsoft YaHei"/>
              </a:rPr>
              <a:t>研究背景、意义、研究现状与本文切入点</a:t>
            </a:r>
            <a:endParaRPr lang="zh-CN" sz="1280"/>
          </a:p>
        </p:txBody>
      </p:sp>
      <p:sp>
        <p:nvSpPr>
          <p:cNvPr id="12" name="SectionAccent0"/>
          <p:cNvSpPr/>
          <p:nvPr/>
        </p:nvSpPr>
        <p:spPr>
          <a:xfrm>
            <a:off x="1627632" y="2286000"/>
            <a:ext cx="146304" cy="86868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3" name="SectionNo1"/>
          <p:cNvSpPr txBox="1"/>
          <p:nvPr/>
        </p:nvSpPr>
        <p:spPr>
          <a:xfrm>
            <a:off x="749808" y="3520439"/>
            <a:ext cx="713232" cy="713232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2200"/>
          </a:p>
        </p:txBody>
      </p:sp>
      <p:sp>
        <p:nvSpPr>
          <p:cNvPr id="14" name="SectionCard1"/>
          <p:cNvSpPr txBox="1"/>
          <p:nvPr/>
        </p:nvSpPr>
        <p:spPr>
          <a:xfrm>
            <a:off x="1627632" y="3474719"/>
            <a:ext cx="4526280" cy="86868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128016" tIns="91440" rIns="128016" bIns="73152" anchor="ctr"/>
          <a:lstStyle/>
          <a:p>
            <a:pPr algn="l"/>
            <a:r>
              <a:rPr lang="zh-CN" sz="185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系统怎么搭</a:t>
            </a:r>
            <a:endParaRPr lang="zh-CN" sz="1850"/>
          </a:p>
          <a:p>
            <a:pPr algn="l"/>
            <a:r>
              <a:rPr lang="zh-CN" sz="1280">
                <a:solidFill>
                  <a:srgbClr val="425464"/>
                </a:solidFill>
                <a:latin typeface="Microsoft YaHei"/>
                <a:ea typeface="Microsoft YaHei"/>
                <a:cs typeface="Microsoft YaHei"/>
              </a:rPr>
              <a:t>总体方案、硬件结构、软件任务组织与通信链路</a:t>
            </a:r>
            <a:endParaRPr lang="zh-CN" sz="1280"/>
          </a:p>
        </p:txBody>
      </p:sp>
      <p:sp>
        <p:nvSpPr>
          <p:cNvPr id="15" name="SectionAccent1"/>
          <p:cNvSpPr/>
          <p:nvPr/>
        </p:nvSpPr>
        <p:spPr>
          <a:xfrm>
            <a:off x="1627632" y="3474719"/>
            <a:ext cx="146304" cy="868680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6" name="SectionNo2"/>
          <p:cNvSpPr txBox="1"/>
          <p:nvPr/>
        </p:nvSpPr>
        <p:spPr>
          <a:xfrm>
            <a:off x="749808" y="4709160"/>
            <a:ext cx="713232" cy="713232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2200"/>
          </a:p>
        </p:txBody>
      </p:sp>
      <p:sp>
        <p:nvSpPr>
          <p:cNvPr id="17" name="SectionCard2"/>
          <p:cNvSpPr txBox="1"/>
          <p:nvPr/>
        </p:nvSpPr>
        <p:spPr>
          <a:xfrm>
            <a:off x="1627632" y="4663440"/>
            <a:ext cx="4526280" cy="868680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128016" tIns="91440" rIns="128016" bIns="73152" anchor="ctr"/>
          <a:lstStyle/>
          <a:p>
            <a:pPr algn="l"/>
            <a:r>
              <a:rPr lang="zh-CN" sz="185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最后做到了什么</a:t>
            </a:r>
            <a:endParaRPr lang="zh-CN" sz="1850"/>
          </a:p>
          <a:p>
            <a:pPr algn="l"/>
            <a:r>
              <a:rPr lang="zh-CN" sz="1280">
                <a:solidFill>
                  <a:srgbClr val="425464"/>
                </a:solidFill>
                <a:latin typeface="Microsoft YaHei"/>
                <a:ea typeface="Microsoft YaHei"/>
                <a:cs typeface="Microsoft YaHei"/>
              </a:rPr>
              <a:t>关键实现、测试结果、OTA 状态和总结展望</a:t>
            </a:r>
            <a:endParaRPr lang="zh-CN" sz="1280"/>
          </a:p>
        </p:txBody>
      </p:sp>
      <p:sp>
        <p:nvSpPr>
          <p:cNvPr id="18" name="SectionAccent2"/>
          <p:cNvSpPr/>
          <p:nvPr/>
        </p:nvSpPr>
        <p:spPr>
          <a:xfrm>
            <a:off x="1627632" y="4663440"/>
            <a:ext cx="146304" cy="868680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5" name="KeywordTitle"/>
          <p:cNvSpPr txBox="1"/>
          <p:nvPr/>
        </p:nvSpPr>
        <p:spPr>
          <a:xfrm>
            <a:off x="6931152" y="45720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50" b="1">
                <a:solidFill>
                  <a:srgbClr val="C7E0F7"/>
                </a:solidFill>
                <a:latin typeface="Microsoft YaHei"/>
                <a:ea typeface="Microsoft YaHei"/>
                <a:cs typeface="Microsoft YaHei"/>
              </a:rPr>
              <a:t>PROJECT KEYWORDS</a:t>
            </a:r>
            <a:endParaRPr lang="zh-CN" sz="1050"/>
          </a:p>
        </p:txBody>
      </p:sp>
      <p:sp>
        <p:nvSpPr>
          <p:cNvPr id="26" name="Keywords"/>
          <p:cNvSpPr txBox="1"/>
          <p:nvPr/>
        </p:nvSpPr>
        <p:spPr>
          <a:xfrm>
            <a:off x="6931152" y="4919472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ESP32 主控</a:t>
            </a:r>
            <a:endParaRPr lang="zh-CN" sz="1900"/>
          </a:p>
          <a:p>
            <a:pPr algn="l"/>
            <a:r>
              <a:rPr lang="zh-CN"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LoRa 节点接入</a:t>
            </a:r>
            <a:endParaRPr lang="zh-CN" sz="1900"/>
          </a:p>
          <a:p>
            <a:pPr algn="l"/>
            <a:r>
              <a:rPr lang="zh-CN" sz="1600">
                <a:solidFill>
                  <a:srgbClr val="D7E8F9"/>
                </a:solidFill>
                <a:latin typeface="Microsoft YaHei"/>
                <a:ea typeface="Microsoft YaHei"/>
                <a:cs typeface="Microsoft YaHei"/>
              </a:rPr>
              <a:t>WiFi / Cat1 / MQTT / OTA</a:t>
            </a:r>
            <a:endParaRPr lang="zh-CN" sz="1600"/>
          </a:p>
        </p:txBody>
      </p:sp>
      <p:sp>
        <p:nvSpPr>
          <p:cNvPr id="3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02 / 18</a:t>
            </a:r>
            <a:endParaRPr lang="zh-CN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LeftPanel"/>
          <p:cNvSpPr/>
          <p:nvPr/>
        </p:nvSpPr>
        <p:spPr>
          <a:xfrm>
            <a:off x="530352" y="804672"/>
            <a:ext cx="3703320" cy="5230368"/>
          </a:xfrm>
          <a:prstGeom prst="rect">
            <a:avLst/>
          </a:prstGeom>
          <a:solidFill>
            <a:srgbClr val="1C4A7F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AccentBar"/>
          <p:cNvSpPr/>
          <p:nvPr/>
        </p:nvSpPr>
        <p:spPr>
          <a:xfrm>
            <a:off x="694944" y="987552"/>
            <a:ext cx="804672" cy="109728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" name="Highlight"/>
          <p:cNvSpPr txBox="1"/>
          <p:nvPr/>
        </p:nvSpPr>
        <p:spPr>
          <a:xfrm>
            <a:off x="749808" y="1234440"/>
            <a:ext cx="320040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rPr>
              <a:t>PROBLEM FIRST</a:t>
            </a:r>
            <a:endParaRPr lang="zh-CN" sz="11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农业现场</a:t>
            </a:r>
            <a:endParaRPr lang="zh-CN" sz="2500"/>
          </a:p>
          <a:p>
            <a:pPr algn="l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监测分散</a:t>
            </a:r>
            <a:endParaRPr lang="zh-CN" sz="2500"/>
          </a:p>
          <a:p>
            <a:pPr algn="l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维护成本高</a:t>
            </a:r>
            <a:endParaRPr lang="zh-CN" sz="2500"/>
          </a:p>
        </p:txBody>
      </p:sp>
      <p:sp>
        <p:nvSpPr>
          <p:cNvPr id="6" name="Title"/>
          <p:cNvSpPr txBox="1"/>
          <p:nvPr/>
        </p:nvSpPr>
        <p:spPr>
          <a:xfrm>
            <a:off x="4572000" y="89611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70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研究背景与意义</a:t>
            </a:r>
            <a:endParaRPr lang="zh-CN" sz="2700"/>
          </a:p>
        </p:txBody>
      </p:sp>
      <p:sp>
        <p:nvSpPr>
          <p:cNvPr id="7" name="TitleLine"/>
          <p:cNvSpPr/>
          <p:nvPr/>
        </p:nvSpPr>
        <p:spPr>
          <a:xfrm>
            <a:off x="4572000" y="1481328"/>
            <a:ext cx="1325880" cy="45720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8" name="BulletCard"/>
          <p:cNvSpPr txBox="1"/>
          <p:nvPr/>
        </p:nvSpPr>
        <p:spPr>
          <a:xfrm>
            <a:off x="4572000" y="1783080"/>
            <a:ext cx="562356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5E0EC"/>
            </a:solidFill>
          </a:ln>
        </p:spPr>
        <p:txBody>
          <a:bodyPr wrap="square" lIns="164592" tIns="128016" rIns="164592" bIns="109728" anchor="t"/>
          <a:lstStyle/>
          <a:p>
            <a:pPr algn="l"/>
            <a:r>
              <a:rPr lang="zh-CN" sz="210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  <a:endParaRPr lang="zh-CN" sz="21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620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- 农业现场监测点位本来就比较分散，单靠人工巡检和手工记录，效率会明显偏低</a:t>
            </a:r>
            <a:endParaRPr lang="zh-CN" sz="1620"/>
          </a:p>
          <a:p>
            <a:pPr algn="l"/>
            <a:r>
              <a:rPr lang="zh-CN" sz="1620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- 环境参数变化快，传统方式很难同时保证数据连续性、反馈及时性和后续维护效率</a:t>
            </a:r>
            <a:endParaRPr lang="zh-CN" sz="1620"/>
          </a:p>
          <a:p>
            <a:pPr algn="l"/>
            <a:r>
              <a:rPr lang="zh-CN" sz="1620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- 所以系统设计不能只顾采集，还得把上传、联网和后期维护一起考虑进去</a:t>
            </a:r>
            <a:endParaRPr lang="zh-CN" sz="1620"/>
          </a:p>
        </p:txBody>
      </p:sp>
      <p:sp>
        <p:nvSpPr>
          <p:cNvPr id="9" name="NoteCard"/>
          <p:cNvSpPr txBox="1"/>
          <p:nvPr/>
        </p:nvSpPr>
        <p:spPr>
          <a:xfrm>
            <a:off x="4572000" y="5303520"/>
            <a:ext cx="5623560" cy="658368"/>
          </a:xfrm>
          <a:prstGeom prst="rect">
            <a:avLst/>
          </a:prstGeom>
          <a:solidFill>
            <a:srgbClr val="EEF6FC"/>
          </a:solidFill>
          <a:ln w="12700">
            <a:solidFill>
              <a:srgbClr val="76D0AB"/>
            </a:solidFill>
          </a:ln>
        </p:spPr>
        <p:txBody>
          <a:bodyPr wrap="square" lIns="128016" tIns="73152" rIns="128016" bIns="54864" anchor="ctr"/>
          <a:lstStyle/>
          <a:p>
            <a:pPr algn="l"/>
            <a:r>
              <a:rPr lang="zh-CN" sz="1400">
                <a:solidFill>
                  <a:srgbClr val="456176"/>
                </a:solidFill>
                <a:latin typeface="Microsoft YaHei"/>
                <a:ea typeface="Microsoft YaHei"/>
                <a:cs typeface="Microsoft YaHei"/>
              </a:rPr>
              <a:t>这个课题真正想解决的，不是某一个孤立功能能不能跑，而是把现场感知、无线传输、平台交互和后期维护尽量串到同一套系统里</a:t>
            </a:r>
            <a:endParaRPr lang="zh-CN" sz="1400"/>
          </a:p>
        </p:txBody>
      </p:sp>
      <p:sp>
        <p:nvSpPr>
          <p:cNvPr id="2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03 / 18</a:t>
            </a:r>
            <a:endParaRPr lang="zh-CN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7724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00" b="1">
                <a:solidFill>
                  <a:srgbClr val="163B66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  <a:endParaRPr lang="zh-CN" sz="2800"/>
          </a:p>
        </p:txBody>
      </p:sp>
      <p:sp>
        <p:nvSpPr>
          <p:cNvPr id="4" name="TitleAccent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0" name="ItemNo0"/>
          <p:cNvSpPr txBox="1"/>
          <p:nvPr/>
        </p:nvSpPr>
        <p:spPr>
          <a:xfrm>
            <a:off x="749808" y="1856232"/>
            <a:ext cx="585216" cy="585216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700"/>
          </a:p>
        </p:txBody>
      </p:sp>
      <p:sp>
        <p:nvSpPr>
          <p:cNvPr id="11" name="ItemLabel0"/>
          <p:cNvSpPr txBox="1"/>
          <p:nvPr/>
        </p:nvSpPr>
        <p:spPr>
          <a:xfrm>
            <a:off x="1481328" y="1783080"/>
            <a:ext cx="1965960" cy="77724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  <a:endParaRPr lang="zh-CN" sz="1850"/>
          </a:p>
        </p:txBody>
      </p:sp>
      <p:sp>
        <p:nvSpPr>
          <p:cNvPr id="12" name="ItemDesc0"/>
          <p:cNvSpPr txBox="1"/>
          <p:nvPr/>
        </p:nvSpPr>
        <p:spPr>
          <a:xfrm>
            <a:off x="3584448" y="1783080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5EAB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LoRa 在低功耗、远距离和多节点接入方面已经体现出明显优势，农业监测系统也在往平台化、可视化方向继续发展</a:t>
            </a:r>
            <a:endParaRPr lang="zh-CN" sz="1380"/>
          </a:p>
        </p:txBody>
      </p:sp>
      <p:sp>
        <p:nvSpPr>
          <p:cNvPr id="13" name="ItemTail0"/>
          <p:cNvSpPr/>
          <p:nvPr/>
        </p:nvSpPr>
        <p:spPr>
          <a:xfrm>
            <a:off x="10186416" y="1783080"/>
            <a:ext cx="109728" cy="77724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4" name="ItemNo1"/>
          <p:cNvSpPr txBox="1"/>
          <p:nvPr/>
        </p:nvSpPr>
        <p:spPr>
          <a:xfrm>
            <a:off x="749808" y="3154680"/>
            <a:ext cx="585216" cy="585216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700"/>
          </a:p>
        </p:txBody>
      </p:sp>
      <p:sp>
        <p:nvSpPr>
          <p:cNvPr id="15" name="ItemLabel1"/>
          <p:cNvSpPr txBox="1"/>
          <p:nvPr/>
        </p:nvSpPr>
        <p:spPr>
          <a:xfrm>
            <a:off x="1481328" y="3081528"/>
            <a:ext cx="1965960" cy="777240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发展趋势</a:t>
            </a:r>
            <a:endParaRPr lang="zh-CN" sz="1850"/>
          </a:p>
        </p:txBody>
      </p:sp>
      <p:sp>
        <p:nvSpPr>
          <p:cNvPr id="16" name="ItemDesc1"/>
          <p:cNvSpPr txBox="1"/>
          <p:nvPr/>
        </p:nvSpPr>
        <p:spPr>
          <a:xfrm>
            <a:off x="3584448" y="3081528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37A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FreeRTOS、LwIP 和任务化软件架构的重要性越来越明显，说明联网型嵌入式系统已经不只是把网络接上去那么简单</a:t>
            </a:r>
            <a:endParaRPr lang="zh-CN" sz="1380"/>
          </a:p>
        </p:txBody>
      </p:sp>
      <p:sp>
        <p:nvSpPr>
          <p:cNvPr id="17" name="ItemTail1"/>
          <p:cNvSpPr/>
          <p:nvPr/>
        </p:nvSpPr>
        <p:spPr>
          <a:xfrm>
            <a:off x="10186416" y="3081528"/>
            <a:ext cx="109728" cy="777240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8" name="ItemNo2"/>
          <p:cNvSpPr txBox="1"/>
          <p:nvPr/>
        </p:nvSpPr>
        <p:spPr>
          <a:xfrm>
            <a:off x="749808" y="4453128"/>
            <a:ext cx="585216" cy="585216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1700"/>
          </a:p>
        </p:txBody>
      </p:sp>
      <p:sp>
        <p:nvSpPr>
          <p:cNvPr id="19" name="ItemLabel2"/>
          <p:cNvSpPr txBox="1"/>
          <p:nvPr/>
        </p:nvSpPr>
        <p:spPr>
          <a:xfrm>
            <a:off x="1481328" y="4379976"/>
            <a:ext cx="1965960" cy="777240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本文切入点</a:t>
            </a:r>
            <a:endParaRPr lang="zh-CN" sz="1850"/>
          </a:p>
        </p:txBody>
      </p:sp>
      <p:sp>
        <p:nvSpPr>
          <p:cNvPr id="20" name="ItemDesc2"/>
          <p:cNvSpPr txBox="1"/>
          <p:nvPr/>
        </p:nvSpPr>
        <p:spPr>
          <a:xfrm>
            <a:off x="3584448" y="4379976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72D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和只强调单点采集或单链路传输的方案相比，本文更关注系统完整性，也就是把节点接入、联网、平台交互和 OTA 维护放到一起做</a:t>
            </a:r>
            <a:endParaRPr lang="zh-CN" sz="1380"/>
          </a:p>
        </p:txBody>
      </p:sp>
      <p:sp>
        <p:nvSpPr>
          <p:cNvPr id="21" name="ItemTail2"/>
          <p:cNvSpPr/>
          <p:nvPr/>
        </p:nvSpPr>
        <p:spPr>
          <a:xfrm>
            <a:off x="10186416" y="4379976"/>
            <a:ext cx="109728" cy="777240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04 / 18</a:t>
            </a:r>
            <a:endParaRPr lang="zh-C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eftOverlay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03D73">
              <a:alpha val="74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GreenBar"/>
          <p:cNvSpPr/>
          <p:nvPr/>
        </p:nvSpPr>
        <p:spPr>
          <a:xfrm>
            <a:off x="640080" y="1051560"/>
            <a:ext cx="146304" cy="1325880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" name="SectionNo"/>
          <p:cNvSpPr txBox="1"/>
          <p:nvPr/>
        </p:nvSpPr>
        <p:spPr>
          <a:xfrm>
            <a:off x="868680" y="82296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3000" b="1">
                <a:solidFill>
                  <a:srgbClr val="D8EB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3000"/>
          </a:p>
        </p:txBody>
      </p:sp>
      <p:sp>
        <p:nvSpPr>
          <p:cNvPr id="6" name="SectionTitle"/>
          <p:cNvSpPr txBox="1"/>
          <p:nvPr/>
        </p:nvSpPr>
        <p:spPr>
          <a:xfrm>
            <a:off x="868680" y="1828800"/>
            <a:ext cx="30632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系统方案设计</a:t>
            </a:r>
            <a:endParaRPr lang="zh-CN" sz="2800"/>
          </a:p>
          <a:p>
            <a:pPr algn="l"/>
            <a:r>
              <a:rPr lang="zh-CN" sz="1350">
                <a:solidFill>
                  <a:srgbClr val="D6E6F9"/>
                </a:solidFill>
                <a:latin typeface="Microsoft YaHei"/>
                <a:ea typeface="Microsoft YaHei"/>
                <a:cs typeface="Microsoft YaHei"/>
              </a:rPr>
              <a:t>从需求分析到整体架构，再到硬件与软件实现</a:t>
            </a:r>
            <a:endParaRPr lang="zh-CN" sz="1350"/>
          </a:p>
        </p:txBody>
      </p:sp>
      <p:sp>
        <p:nvSpPr>
          <p:cNvPr id="7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8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05 / 18</a:t>
            </a:r>
            <a:endParaRPr lang="zh-CN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7724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00" b="1">
                <a:solidFill>
                  <a:srgbClr val="163B66"/>
                </a:solidFill>
                <a:latin typeface="Microsoft YaHei"/>
                <a:ea typeface="Microsoft YaHei"/>
                <a:cs typeface="Microsoft YaHei"/>
              </a:rPr>
              <a:t>系统目标与总体方案</a:t>
            </a:r>
            <a:endParaRPr lang="zh-CN" sz="2800"/>
          </a:p>
        </p:txBody>
      </p:sp>
      <p:sp>
        <p:nvSpPr>
          <p:cNvPr id="4" name="TitleAccent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0" name="ItemNo0"/>
          <p:cNvSpPr txBox="1"/>
          <p:nvPr/>
        </p:nvSpPr>
        <p:spPr>
          <a:xfrm>
            <a:off x="749808" y="1856232"/>
            <a:ext cx="585216" cy="585216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700"/>
          </a:p>
        </p:txBody>
      </p:sp>
      <p:sp>
        <p:nvSpPr>
          <p:cNvPr id="11" name="ItemLabel0"/>
          <p:cNvSpPr txBox="1"/>
          <p:nvPr/>
        </p:nvSpPr>
        <p:spPr>
          <a:xfrm>
            <a:off x="1481328" y="1783080"/>
            <a:ext cx="1965960" cy="77724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感知目标</a:t>
            </a:r>
            <a:endParaRPr lang="zh-CN" sz="1850"/>
          </a:p>
        </p:txBody>
      </p:sp>
      <p:sp>
        <p:nvSpPr>
          <p:cNvPr id="12" name="ItemDesc0"/>
          <p:cNvSpPr txBox="1"/>
          <p:nvPr/>
        </p:nvSpPr>
        <p:spPr>
          <a:xfrm>
            <a:off x="3584448" y="1783080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5EAB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完成土壤温湿度、电导率、氮磷钾采集，同时接入网关空气温湿度、光照以及 LoRa 子节点环境数据</a:t>
            </a:r>
            <a:endParaRPr lang="zh-CN" sz="1380"/>
          </a:p>
        </p:txBody>
      </p:sp>
      <p:sp>
        <p:nvSpPr>
          <p:cNvPr id="13" name="ItemTail0"/>
          <p:cNvSpPr/>
          <p:nvPr/>
        </p:nvSpPr>
        <p:spPr>
          <a:xfrm>
            <a:off x="10186416" y="1783080"/>
            <a:ext cx="109728" cy="77724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4" name="ItemNo1"/>
          <p:cNvSpPr txBox="1"/>
          <p:nvPr/>
        </p:nvSpPr>
        <p:spPr>
          <a:xfrm>
            <a:off x="749808" y="3154680"/>
            <a:ext cx="585216" cy="585216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700"/>
          </a:p>
        </p:txBody>
      </p:sp>
      <p:sp>
        <p:nvSpPr>
          <p:cNvPr id="15" name="ItemLabel1"/>
          <p:cNvSpPr txBox="1"/>
          <p:nvPr/>
        </p:nvSpPr>
        <p:spPr>
          <a:xfrm>
            <a:off x="1481328" y="3081528"/>
            <a:ext cx="1965960" cy="777240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通信方案</a:t>
            </a:r>
            <a:endParaRPr lang="zh-CN" sz="1850"/>
          </a:p>
        </p:txBody>
      </p:sp>
      <p:sp>
        <p:nvSpPr>
          <p:cNvPr id="16" name="ItemDesc1"/>
          <p:cNvSpPr txBox="1"/>
          <p:nvPr/>
        </p:nvSpPr>
        <p:spPr>
          <a:xfrm>
            <a:off x="3584448" y="3081528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37A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系统采用 WiFi 主链路、Cat1 备份链路，再通过 MQTT 接入 OneNET 平台完成数据上传和状态交互</a:t>
            </a:r>
            <a:endParaRPr lang="zh-CN" sz="1380"/>
          </a:p>
        </p:txBody>
      </p:sp>
      <p:sp>
        <p:nvSpPr>
          <p:cNvPr id="17" name="ItemTail1"/>
          <p:cNvSpPr/>
          <p:nvPr/>
        </p:nvSpPr>
        <p:spPr>
          <a:xfrm>
            <a:off x="10186416" y="3081528"/>
            <a:ext cx="109728" cy="777240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8" name="ItemNo2"/>
          <p:cNvSpPr txBox="1"/>
          <p:nvPr/>
        </p:nvSpPr>
        <p:spPr>
          <a:xfrm>
            <a:off x="749808" y="4453128"/>
            <a:ext cx="585216" cy="585216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1700"/>
          </a:p>
        </p:txBody>
      </p:sp>
      <p:sp>
        <p:nvSpPr>
          <p:cNvPr id="19" name="ItemLabel2"/>
          <p:cNvSpPr txBox="1"/>
          <p:nvPr/>
        </p:nvSpPr>
        <p:spPr>
          <a:xfrm>
            <a:off x="1481328" y="4379976"/>
            <a:ext cx="1965960" cy="777240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维护能力</a:t>
            </a:r>
            <a:endParaRPr lang="zh-CN" sz="1850"/>
          </a:p>
        </p:txBody>
      </p:sp>
      <p:sp>
        <p:nvSpPr>
          <p:cNvPr id="20" name="ItemDesc2"/>
          <p:cNvSpPr txBox="1"/>
          <p:nvPr/>
        </p:nvSpPr>
        <p:spPr>
          <a:xfrm>
            <a:off x="3584448" y="4379976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72D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结合 NVS 本地参数保存和 OTA 远程升级架构，让设备不仅能运行起来，也更方便后期继续维护</a:t>
            </a:r>
            <a:endParaRPr lang="zh-CN" sz="1380"/>
          </a:p>
        </p:txBody>
      </p:sp>
      <p:sp>
        <p:nvSpPr>
          <p:cNvPr id="21" name="ItemTail2"/>
          <p:cNvSpPr/>
          <p:nvPr/>
        </p:nvSpPr>
        <p:spPr>
          <a:xfrm>
            <a:off x="10186416" y="4379976"/>
            <a:ext cx="109728" cy="777240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06 / 18</a:t>
            </a:r>
            <a:endParaRPr lang="zh-CN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82296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  <a:endParaRPr lang="zh-CN" sz="2600"/>
          </a:p>
        </p:txBody>
      </p:sp>
      <p:sp>
        <p:nvSpPr>
          <p:cNvPr id="4" name="Box4"/>
          <p:cNvSpPr txBox="1"/>
          <p:nvPr/>
        </p:nvSpPr>
        <p:spPr>
          <a:xfrm>
            <a:off x="822960" y="1828800"/>
            <a:ext cx="2743200" cy="2286000"/>
          </a:xfrm>
          <a:prstGeom prst="rect">
            <a:avLst/>
          </a:prstGeom>
          <a:solidFill>
            <a:srgbClr val="EAF4FF"/>
          </a:solidFill>
          <a:ln w="19050">
            <a:solidFill>
              <a:srgbClr val="1F5EAB"/>
            </a:solidFill>
          </a:ln>
        </p:spPr>
        <p:txBody>
          <a:bodyPr wrap="square" lIns="137160" tIns="164592" rIns="137160" bIns="137160" anchor="ctr"/>
          <a:lstStyle/>
          <a:p>
            <a:pPr algn="ctr"/>
            <a:r>
              <a:rPr lang="zh-CN" sz="22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感知层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土壤传感器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网关空气传感器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LoRa 子节点</a:t>
            </a:r>
            <a:endParaRPr lang="zh-CN" sz="1700"/>
          </a:p>
        </p:txBody>
      </p:sp>
      <p:sp>
        <p:nvSpPr>
          <p:cNvPr id="5" name="Box5"/>
          <p:cNvSpPr txBox="1"/>
          <p:nvPr/>
        </p:nvSpPr>
        <p:spPr>
          <a:xfrm>
            <a:off x="4160520" y="1828800"/>
            <a:ext cx="2743200" cy="228600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137160" tIns="164592" rIns="137160" bIns="137160" anchor="ctr"/>
          <a:lstStyle/>
          <a:p>
            <a:pPr algn="ctr"/>
            <a:r>
              <a:rPr lang="zh-CN" sz="22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网关层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ESP32 主控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WiFi / Cat1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LoRa / MQTT / NVS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OTA 维护</a:t>
            </a:r>
            <a:endParaRPr lang="zh-CN" sz="1700"/>
          </a:p>
        </p:txBody>
      </p:sp>
      <p:sp>
        <p:nvSpPr>
          <p:cNvPr id="6" name="Box6"/>
          <p:cNvSpPr txBox="1"/>
          <p:nvPr/>
        </p:nvSpPr>
        <p:spPr>
          <a:xfrm>
            <a:off x="7498079" y="1828800"/>
            <a:ext cx="2743200" cy="2286000"/>
          </a:xfrm>
          <a:prstGeom prst="rect">
            <a:avLst/>
          </a:prstGeom>
          <a:solidFill>
            <a:srgbClr val="F5F7FB"/>
          </a:solidFill>
          <a:ln w="19050">
            <a:solidFill>
              <a:srgbClr val="5A6A85"/>
            </a:solidFill>
          </a:ln>
        </p:spPr>
        <p:txBody>
          <a:bodyPr wrap="square" lIns="137160" tIns="164592" rIns="137160" bIns="137160" anchor="ctr"/>
          <a:lstStyle/>
          <a:p>
            <a:pPr algn="ctr"/>
            <a:r>
              <a:rPr lang="zh-CN" sz="2200" b="1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平台层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OneNET 云平台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数据展示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远程监控</a:t>
            </a:r>
            <a:endParaRPr lang="zh-CN" sz="1700"/>
          </a:p>
          <a:p>
            <a:pPr algn="ctr"/>
            <a:r>
              <a:rPr lang="zh-CN" sz="1700">
                <a:solidFill>
                  <a:srgbClr val="2C2C2C"/>
                </a:solidFill>
                <a:latin typeface="Microsoft YaHei"/>
                <a:ea typeface="Microsoft YaHei"/>
                <a:cs typeface="Microsoft YaHei"/>
              </a:rPr>
              <a:t>状态交互</a:t>
            </a:r>
            <a:endParaRPr lang="zh-CN" sz="1700"/>
          </a:p>
        </p:txBody>
      </p:sp>
      <p:sp>
        <p:nvSpPr>
          <p:cNvPr id="7" name="FlowText"/>
          <p:cNvSpPr txBox="1"/>
          <p:nvPr/>
        </p:nvSpPr>
        <p:spPr>
          <a:xfrm>
            <a:off x="1234440" y="452628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0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现场采集  →  网关汇聚与调度  →  平台展示与管理</a:t>
            </a:r>
            <a:endParaRPr lang="zh-CN" sz="2000"/>
          </a:p>
        </p:txBody>
      </p:sp>
      <p:sp>
        <p:nvSpPr>
          <p:cNvPr id="8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9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07 / 18</a:t>
            </a:r>
            <a:endParaRPr lang="zh-CN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49808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0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  <a:endParaRPr lang="zh-CN" sz="2800"/>
          </a:p>
        </p:txBody>
      </p:sp>
      <p:sp>
        <p:nvSpPr>
          <p:cNvPr id="4" name="Block4"/>
          <p:cNvSpPr txBox="1"/>
          <p:nvPr/>
        </p:nvSpPr>
        <p:spPr>
          <a:xfrm>
            <a:off x="713232" y="1463040"/>
            <a:ext cx="3840480" cy="4343400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164592" tIns="146304" rIns="164592" bIns="109728" anchor="t"/>
          <a:lstStyle/>
          <a:p>
            <a:pPr algn="l"/>
            <a:r>
              <a:rPr lang="zh-CN" sz="22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主控与通信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ESP32 负责数据处理、任务调度和网关侧功能组织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LoRa 模块完成子节点接入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EC800 Cat1 作为备份联网链路</a:t>
            </a:r>
            <a:endParaRPr lang="zh-CN" sz="1550"/>
          </a:p>
        </p:txBody>
      </p:sp>
      <p:sp>
        <p:nvSpPr>
          <p:cNvPr id="5" name="BlockAccent4"/>
          <p:cNvSpPr/>
          <p:nvPr/>
        </p:nvSpPr>
        <p:spPr>
          <a:xfrm>
            <a:off x="713232" y="1463040"/>
            <a:ext cx="3840480" cy="146304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8" name="Block8"/>
          <p:cNvSpPr txBox="1"/>
          <p:nvPr/>
        </p:nvSpPr>
        <p:spPr>
          <a:xfrm>
            <a:off x="4782312" y="1463040"/>
            <a:ext cx="5440680" cy="182880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164592" tIns="146304" rIns="164592" bIns="109728" anchor="t"/>
          <a:lstStyle/>
          <a:p>
            <a:pPr algn="l"/>
            <a:r>
              <a:rPr lang="zh-CN" sz="22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传感器接入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土壤传感器通过 UART / Modbus 读参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SHT30 负责空气温湿度采集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BH1750 负责环境光照强度获取</a:t>
            </a:r>
            <a:endParaRPr lang="zh-CN" sz="1550"/>
          </a:p>
        </p:txBody>
      </p:sp>
      <p:sp>
        <p:nvSpPr>
          <p:cNvPr id="9" name="BlockAccent8"/>
          <p:cNvSpPr/>
          <p:nvPr/>
        </p:nvSpPr>
        <p:spPr>
          <a:xfrm>
            <a:off x="4782312" y="1463040"/>
            <a:ext cx="5440680" cy="146304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2" name="Block12"/>
          <p:cNvSpPr txBox="1"/>
          <p:nvPr/>
        </p:nvSpPr>
        <p:spPr>
          <a:xfrm>
            <a:off x="4782312" y="3566160"/>
            <a:ext cx="5440680" cy="2240280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164592" tIns="146304" rIns="164592" bIns="109728" anchor="t"/>
          <a:lstStyle/>
          <a:p>
            <a:pPr algn="l"/>
            <a:r>
              <a:rPr lang="zh-CN" sz="22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辅助单元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RGB 用于状态指示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供电脚控制方便模块上电管理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NVS 保存关键参数，也给后续扩展预留了空间</a:t>
            </a:r>
            <a:endParaRPr lang="zh-CN" sz="1550"/>
          </a:p>
        </p:txBody>
      </p:sp>
      <p:sp>
        <p:nvSpPr>
          <p:cNvPr id="13" name="BlockAccent12"/>
          <p:cNvSpPr/>
          <p:nvPr/>
        </p:nvSpPr>
        <p:spPr>
          <a:xfrm>
            <a:off x="4782312" y="3566160"/>
            <a:ext cx="5440680" cy="146304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08 / 18</a:t>
            </a:r>
            <a:endParaRPr lang="zh-CN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8229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软件设计与关键任务</a:t>
            </a:r>
            <a:endParaRPr lang="zh-CN" sz="2600"/>
          </a:p>
        </p:txBody>
      </p:sp>
      <p:sp>
        <p:nvSpPr>
          <p:cNvPr id="4" name="StepNo0"/>
          <p:cNvSpPr txBox="1"/>
          <p:nvPr/>
        </p:nvSpPr>
        <p:spPr>
          <a:xfrm>
            <a:off x="1554480" y="1097280"/>
            <a:ext cx="640080" cy="64008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2400"/>
          </a:p>
        </p:txBody>
      </p:sp>
      <p:sp>
        <p:nvSpPr>
          <p:cNvPr id="5" name="StepBox0"/>
          <p:cNvSpPr txBox="1"/>
          <p:nvPr/>
        </p:nvSpPr>
        <p:spPr>
          <a:xfrm>
            <a:off x="731520" y="1828800"/>
            <a:ext cx="23317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E3F3"/>
            </a:solidFill>
          </a:ln>
        </p:spPr>
        <p:txBody>
          <a:bodyPr wrap="square" lIns="137160" tIns="137160" rIns="137160" bIns="137160" anchor="ctr"/>
          <a:lstStyle/>
          <a:p>
            <a:pPr algn="ctr"/>
            <a:r>
              <a:rPr lang="zh-CN" sz="19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系统启动</a:t>
            </a:r>
            <a:endParaRPr lang="zh-CN" sz="19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45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app_main 完成 NVS、GPIO、WiFi、LoRa 与传感器初始化</a:t>
            </a:r>
            <a:endParaRPr lang="zh-CN" sz="1450"/>
          </a:p>
        </p:txBody>
      </p:sp>
      <p:sp>
        <p:nvSpPr>
          <p:cNvPr id="6" name="Connector0"/>
          <p:cNvSpPr/>
          <p:nvPr/>
        </p:nvSpPr>
        <p:spPr>
          <a:xfrm>
            <a:off x="3063240" y="2084831"/>
            <a:ext cx="292608" cy="73152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" name="StepNo1"/>
          <p:cNvSpPr txBox="1"/>
          <p:nvPr/>
        </p:nvSpPr>
        <p:spPr>
          <a:xfrm>
            <a:off x="4178808" y="1097280"/>
            <a:ext cx="640080" cy="64008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2400"/>
          </a:p>
        </p:txBody>
      </p:sp>
      <p:sp>
        <p:nvSpPr>
          <p:cNvPr id="8" name="StepBox1"/>
          <p:cNvSpPr txBox="1"/>
          <p:nvPr/>
        </p:nvSpPr>
        <p:spPr>
          <a:xfrm>
            <a:off x="3355848" y="1828800"/>
            <a:ext cx="23317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E3F3"/>
            </a:solidFill>
          </a:ln>
        </p:spPr>
        <p:txBody>
          <a:bodyPr wrap="square" lIns="137160" tIns="137160" rIns="137160" bIns="137160" anchor="ctr"/>
          <a:lstStyle/>
          <a:p>
            <a:pPr algn="ctr"/>
            <a:r>
              <a:rPr lang="zh-CN" sz="19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配网联网</a:t>
            </a:r>
            <a:endParaRPr lang="zh-CN" sz="19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45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WiFi AP 配网成功后自动启动 MQTT 主链路</a:t>
            </a:r>
            <a:endParaRPr lang="zh-CN" sz="1450"/>
          </a:p>
        </p:txBody>
      </p:sp>
      <p:sp>
        <p:nvSpPr>
          <p:cNvPr id="9" name="Connector1"/>
          <p:cNvSpPr/>
          <p:nvPr/>
        </p:nvSpPr>
        <p:spPr>
          <a:xfrm>
            <a:off x="5687568" y="2084831"/>
            <a:ext cx="292608" cy="73152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0" name="StepNo2"/>
          <p:cNvSpPr txBox="1"/>
          <p:nvPr/>
        </p:nvSpPr>
        <p:spPr>
          <a:xfrm>
            <a:off x="6803136" y="1097280"/>
            <a:ext cx="640080" cy="64008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2400"/>
          </a:p>
        </p:txBody>
      </p:sp>
      <p:sp>
        <p:nvSpPr>
          <p:cNvPr id="11" name="StepBox2"/>
          <p:cNvSpPr txBox="1"/>
          <p:nvPr/>
        </p:nvSpPr>
        <p:spPr>
          <a:xfrm>
            <a:off x="5980176" y="1828800"/>
            <a:ext cx="23317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E3F3"/>
            </a:solidFill>
          </a:ln>
        </p:spPr>
        <p:txBody>
          <a:bodyPr wrap="square" lIns="137160" tIns="137160" rIns="137160" bIns="137160" anchor="ctr"/>
          <a:lstStyle/>
          <a:p>
            <a:pPr algn="ctr"/>
            <a:r>
              <a:rPr lang="zh-CN" sz="19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数据调度</a:t>
            </a:r>
            <a:endParaRPr lang="zh-CN" sz="19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45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统一上传任务组织空气、土壤与节点缓存数据</a:t>
            </a:r>
            <a:endParaRPr lang="zh-CN" sz="1450"/>
          </a:p>
        </p:txBody>
      </p:sp>
      <p:sp>
        <p:nvSpPr>
          <p:cNvPr id="12" name="Connector2"/>
          <p:cNvSpPr/>
          <p:nvPr/>
        </p:nvSpPr>
        <p:spPr>
          <a:xfrm>
            <a:off x="8311896" y="2084831"/>
            <a:ext cx="292608" cy="73152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3" name="StepNo3"/>
          <p:cNvSpPr txBox="1"/>
          <p:nvPr/>
        </p:nvSpPr>
        <p:spPr>
          <a:xfrm>
            <a:off x="9427464" y="1097280"/>
            <a:ext cx="640080" cy="64008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lang="zh-CN" sz="2400"/>
          </a:p>
        </p:txBody>
      </p:sp>
      <p:sp>
        <p:nvSpPr>
          <p:cNvPr id="14" name="StepBox3"/>
          <p:cNvSpPr txBox="1"/>
          <p:nvPr/>
        </p:nvSpPr>
        <p:spPr>
          <a:xfrm>
            <a:off x="8604504" y="1828800"/>
            <a:ext cx="23317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7E3F3"/>
            </a:solidFill>
          </a:ln>
        </p:spPr>
        <p:txBody>
          <a:bodyPr wrap="square" lIns="137160" tIns="137160" rIns="137160" bIns="137160" anchor="ctr"/>
          <a:lstStyle/>
          <a:p>
            <a:pPr algn="ctr"/>
            <a:r>
              <a:rPr lang="zh-CN" sz="19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维护升级</a:t>
            </a:r>
            <a:endParaRPr lang="zh-CN" sz="19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45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OTA Bootstrap 任务执行版本上报、任务检测与升级触发</a:t>
            </a:r>
            <a:endParaRPr lang="zh-CN" sz="1450"/>
          </a:p>
        </p:txBody>
      </p:sp>
      <p:sp>
        <p:nvSpPr>
          <p:cNvPr id="3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09 / 18</a:t>
            </a:r>
            <a:endParaRPr lang="zh-CN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315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50" b="1">
                <a:solidFill>
                  <a:srgbClr val="163B66"/>
                </a:solidFill>
                <a:latin typeface="Microsoft YaHei"/>
                <a:ea typeface="Microsoft YaHei"/>
                <a:cs typeface="Microsoft YaHei"/>
              </a:rPr>
              <a:t>系统主流程图</a:t>
            </a:r>
            <a:endParaRPr lang="zh-CN" sz="2850"/>
          </a:p>
        </p:txBody>
      </p:sp>
      <p:sp>
        <p:nvSpPr>
          <p:cNvPr id="4" name="Subtitle"/>
          <p:cNvSpPr txBox="1"/>
          <p:nvPr/>
        </p:nvSpPr>
        <p:spPr>
          <a:xfrm>
            <a:off x="749808" y="13258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350">
                <a:solidFill>
                  <a:srgbClr val="5E7184"/>
                </a:solidFill>
                <a:latin typeface="Microsoft YaHei"/>
                <a:ea typeface="Microsoft YaHei"/>
                <a:cs typeface="Microsoft YaHei"/>
              </a:rPr>
              <a:t>把启动、配网、联网、采集和上传串起来之后，程序主线会更好讲</a:t>
            </a:r>
            <a:endParaRPr lang="zh-CN" sz="1350"/>
          </a:p>
        </p:txBody>
      </p:sp>
      <p:sp>
        <p:nvSpPr>
          <p:cNvPr id="5" name="LeftPanel"/>
          <p:cNvSpPr/>
          <p:nvPr/>
        </p:nvSpPr>
        <p:spPr>
          <a:xfrm>
            <a:off x="658368" y="1828800"/>
            <a:ext cx="2331720" cy="3840480"/>
          </a:xfrm>
          <a:prstGeom prst="rect">
            <a:avLst/>
          </a:prstGeom>
          <a:solidFill>
            <a:srgbClr val="173E69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" name="LeftPanelText"/>
          <p:cNvSpPr txBox="1"/>
          <p:nvPr/>
        </p:nvSpPr>
        <p:spPr>
          <a:xfrm>
            <a:off x="868680" y="2148840"/>
            <a:ext cx="1874519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主线提示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500">
                <a:solidFill>
                  <a:srgbClr val="D7E8F9"/>
                </a:solidFill>
                <a:latin typeface="Microsoft YaHei"/>
                <a:ea typeface="Microsoft YaHei"/>
                <a:cs typeface="Microsoft YaHei"/>
              </a:rPr>
              <a:t>1. 先把设备和参数带起来</a:t>
            </a:r>
            <a:endParaRPr lang="zh-CN" sz="1500"/>
          </a:p>
          <a:p>
            <a:pPr algn="l"/>
            <a:r>
              <a:rPr lang="zh-CN" sz="1500">
                <a:solidFill>
                  <a:srgbClr val="D7E8F9"/>
                </a:solidFill>
                <a:latin typeface="Microsoft YaHei"/>
                <a:ea typeface="Microsoft YaHei"/>
                <a:cs typeface="Microsoft YaHei"/>
              </a:rPr>
              <a:t>2. 再把联网链路跑通</a:t>
            </a:r>
            <a:endParaRPr lang="zh-CN" sz="1500"/>
          </a:p>
          <a:p>
            <a:pPr algn="l"/>
            <a:r>
              <a:rPr lang="zh-CN" sz="1500">
                <a:solidFill>
                  <a:srgbClr val="D7E8F9"/>
                </a:solidFill>
                <a:latin typeface="Microsoft YaHei"/>
                <a:ea typeface="Microsoft YaHei"/>
                <a:cs typeface="Microsoft YaHei"/>
              </a:rPr>
              <a:t>3. 最后统一采集并上传</a:t>
            </a:r>
            <a:endParaRPr lang="zh-CN" sz="1500"/>
          </a:p>
        </p:txBody>
      </p:sp>
      <p:sp>
        <p:nvSpPr>
          <p:cNvPr id="10" name="MainStep10"/>
          <p:cNvSpPr txBox="1"/>
          <p:nvPr/>
        </p:nvSpPr>
        <p:spPr>
          <a:xfrm>
            <a:off x="3337560" y="1645920"/>
            <a:ext cx="2880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D0E1"/>
            </a:solidFill>
          </a:ln>
        </p:spPr>
        <p:txBody>
          <a:bodyPr wrap="square" lIns="91440" tIns="45720" rIns="91440" bIns="36576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系统上电</a:t>
            </a:r>
            <a:endParaRPr lang="zh-CN" sz="1700"/>
          </a:p>
          <a:p>
            <a:pPr algn="ctr"/>
            <a:r>
              <a:rPr lang="zh-CN" sz="1080">
                <a:solidFill>
                  <a:srgbClr val="516679"/>
                </a:solidFill>
                <a:latin typeface="Microsoft YaHei"/>
                <a:ea typeface="Microsoft YaHei"/>
                <a:cs typeface="Microsoft YaHei"/>
              </a:rPr>
              <a:t>进入 app_main</a:t>
            </a:r>
            <a:endParaRPr lang="zh-CN" sz="1080"/>
          </a:p>
        </p:txBody>
      </p:sp>
      <p:sp>
        <p:nvSpPr>
          <p:cNvPr id="30" name="MainArrow10"/>
          <p:cNvSpPr txBox="1"/>
          <p:nvPr/>
        </p:nvSpPr>
        <p:spPr>
          <a:xfrm>
            <a:off x="4489704" y="213055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5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50"/>
          </a:p>
        </p:txBody>
      </p:sp>
      <p:sp>
        <p:nvSpPr>
          <p:cNvPr id="11" name="MainStep11"/>
          <p:cNvSpPr txBox="1"/>
          <p:nvPr/>
        </p:nvSpPr>
        <p:spPr>
          <a:xfrm>
            <a:off x="3337560" y="2286000"/>
            <a:ext cx="2880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D0E1"/>
            </a:solidFill>
          </a:ln>
        </p:spPr>
        <p:txBody>
          <a:bodyPr wrap="square" lIns="91440" tIns="45720" rIns="91440" bIns="36576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基础初始化</a:t>
            </a:r>
            <a:endParaRPr lang="zh-CN" sz="1700"/>
          </a:p>
          <a:p>
            <a:pPr algn="ctr"/>
            <a:r>
              <a:rPr lang="zh-CN" sz="1080">
                <a:solidFill>
                  <a:srgbClr val="516679"/>
                </a:solidFill>
                <a:latin typeface="Microsoft YaHei"/>
                <a:ea typeface="Microsoft YaHei"/>
                <a:cs typeface="Microsoft YaHei"/>
              </a:rPr>
              <a:t>NVS / GPIO / LoRa / 传感器</a:t>
            </a:r>
            <a:endParaRPr lang="zh-CN" sz="1080"/>
          </a:p>
        </p:txBody>
      </p:sp>
      <p:sp>
        <p:nvSpPr>
          <p:cNvPr id="31" name="MainArrow11"/>
          <p:cNvSpPr txBox="1"/>
          <p:nvPr/>
        </p:nvSpPr>
        <p:spPr>
          <a:xfrm>
            <a:off x="4489704" y="2770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5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50"/>
          </a:p>
        </p:txBody>
      </p:sp>
      <p:sp>
        <p:nvSpPr>
          <p:cNvPr id="12" name="MainStep12"/>
          <p:cNvSpPr txBox="1"/>
          <p:nvPr/>
        </p:nvSpPr>
        <p:spPr>
          <a:xfrm>
            <a:off x="3337560" y="2926080"/>
            <a:ext cx="2880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D0E1"/>
            </a:solidFill>
          </a:ln>
        </p:spPr>
        <p:txBody>
          <a:bodyPr wrap="square" lIns="91440" tIns="45720" rIns="91440" bIns="36576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读取历史 WiFi</a:t>
            </a:r>
            <a:endParaRPr lang="zh-CN" sz="1700"/>
          </a:p>
          <a:p>
            <a:pPr algn="ctr"/>
            <a:r>
              <a:rPr lang="zh-CN" sz="1080">
                <a:solidFill>
                  <a:srgbClr val="516679"/>
                </a:solidFill>
                <a:latin typeface="Microsoft YaHei"/>
                <a:ea typeface="Microsoft YaHei"/>
                <a:cs typeface="Microsoft YaHei"/>
              </a:rPr>
              <a:t>尝试加载已保存配置</a:t>
            </a:r>
            <a:endParaRPr lang="zh-CN" sz="1080"/>
          </a:p>
        </p:txBody>
      </p:sp>
      <p:sp>
        <p:nvSpPr>
          <p:cNvPr id="32" name="MainArrow12"/>
          <p:cNvSpPr txBox="1"/>
          <p:nvPr/>
        </p:nvSpPr>
        <p:spPr>
          <a:xfrm>
            <a:off x="4489704" y="341071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5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50"/>
          </a:p>
        </p:txBody>
      </p:sp>
      <p:sp>
        <p:nvSpPr>
          <p:cNvPr id="13" name="MainStep13"/>
          <p:cNvSpPr txBox="1"/>
          <p:nvPr/>
        </p:nvSpPr>
        <p:spPr>
          <a:xfrm>
            <a:off x="3337560" y="3794760"/>
            <a:ext cx="2880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D0E1"/>
            </a:solidFill>
          </a:ln>
        </p:spPr>
        <p:txBody>
          <a:bodyPr wrap="square" lIns="91440" tIns="45720" rIns="91440" bIns="36576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连接 WiFi</a:t>
            </a:r>
            <a:endParaRPr lang="zh-CN" sz="1700"/>
          </a:p>
          <a:p>
            <a:pPr algn="ctr"/>
            <a:r>
              <a:rPr lang="zh-CN" sz="1080">
                <a:solidFill>
                  <a:srgbClr val="516679"/>
                </a:solidFill>
                <a:latin typeface="Microsoft YaHei"/>
                <a:ea typeface="Microsoft YaHei"/>
                <a:cs typeface="Microsoft YaHei"/>
              </a:rPr>
              <a:t>拿到 IP 后进入主链路</a:t>
            </a:r>
            <a:endParaRPr lang="zh-CN" sz="1080"/>
          </a:p>
        </p:txBody>
      </p:sp>
      <p:sp>
        <p:nvSpPr>
          <p:cNvPr id="33" name="MainArrow13"/>
          <p:cNvSpPr txBox="1"/>
          <p:nvPr/>
        </p:nvSpPr>
        <p:spPr>
          <a:xfrm>
            <a:off x="4489704" y="427939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5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50"/>
          </a:p>
        </p:txBody>
      </p:sp>
      <p:sp>
        <p:nvSpPr>
          <p:cNvPr id="14" name="MainStep14"/>
          <p:cNvSpPr txBox="1"/>
          <p:nvPr/>
        </p:nvSpPr>
        <p:spPr>
          <a:xfrm>
            <a:off x="3337560" y="4434840"/>
            <a:ext cx="2880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D0E1"/>
            </a:solidFill>
          </a:ln>
        </p:spPr>
        <p:txBody>
          <a:bodyPr wrap="square" lIns="91440" tIns="45720" rIns="91440" bIns="36576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启动 MQTT</a:t>
            </a:r>
            <a:endParaRPr lang="zh-CN" sz="1700"/>
          </a:p>
          <a:p>
            <a:pPr algn="ctr"/>
            <a:r>
              <a:rPr lang="zh-CN" sz="1080">
                <a:solidFill>
                  <a:srgbClr val="516679"/>
                </a:solidFill>
                <a:latin typeface="Microsoft YaHei"/>
                <a:ea typeface="Microsoft YaHei"/>
                <a:cs typeface="Microsoft YaHei"/>
              </a:rPr>
              <a:t>建立平台通信</a:t>
            </a:r>
            <a:endParaRPr lang="zh-CN" sz="1080"/>
          </a:p>
        </p:txBody>
      </p:sp>
      <p:sp>
        <p:nvSpPr>
          <p:cNvPr id="34" name="MainArrow14"/>
          <p:cNvSpPr txBox="1"/>
          <p:nvPr/>
        </p:nvSpPr>
        <p:spPr>
          <a:xfrm>
            <a:off x="4489704" y="491947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5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50"/>
          </a:p>
        </p:txBody>
      </p:sp>
      <p:sp>
        <p:nvSpPr>
          <p:cNvPr id="15" name="MainStep15"/>
          <p:cNvSpPr txBox="1"/>
          <p:nvPr/>
        </p:nvSpPr>
        <p:spPr>
          <a:xfrm>
            <a:off x="3337560" y="5074920"/>
            <a:ext cx="2880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D0E1"/>
            </a:solidFill>
          </a:ln>
        </p:spPr>
        <p:txBody>
          <a:bodyPr wrap="square" lIns="91440" tIns="45720" rIns="91440" bIns="36576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采集与轮询</a:t>
            </a:r>
            <a:endParaRPr lang="zh-CN" sz="1700"/>
          </a:p>
          <a:p>
            <a:pPr algn="ctr"/>
            <a:r>
              <a:rPr lang="zh-CN" sz="1080">
                <a:solidFill>
                  <a:srgbClr val="516679"/>
                </a:solidFill>
                <a:latin typeface="Microsoft YaHei"/>
                <a:ea typeface="Microsoft YaHei"/>
                <a:cs typeface="Microsoft YaHei"/>
              </a:rPr>
              <a:t>空气、土壤、LoRa 节点</a:t>
            </a:r>
            <a:endParaRPr lang="zh-CN" sz="1080"/>
          </a:p>
        </p:txBody>
      </p:sp>
      <p:sp>
        <p:nvSpPr>
          <p:cNvPr id="35" name="MainArrow15"/>
          <p:cNvSpPr txBox="1"/>
          <p:nvPr/>
        </p:nvSpPr>
        <p:spPr>
          <a:xfrm>
            <a:off x="4489704" y="555955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5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50"/>
          </a:p>
        </p:txBody>
      </p:sp>
      <p:sp>
        <p:nvSpPr>
          <p:cNvPr id="16" name="MainStep16"/>
          <p:cNvSpPr txBox="1"/>
          <p:nvPr/>
        </p:nvSpPr>
        <p:spPr>
          <a:xfrm>
            <a:off x="3337560" y="5715000"/>
            <a:ext cx="2880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BFD0E1"/>
            </a:solidFill>
          </a:ln>
        </p:spPr>
        <p:txBody>
          <a:bodyPr wrap="square" lIns="91440" tIns="45720" rIns="91440" bIns="36576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统一上传</a:t>
            </a:r>
            <a:endParaRPr lang="zh-CN" sz="1700"/>
          </a:p>
          <a:p>
            <a:pPr algn="ctr"/>
            <a:r>
              <a:rPr lang="zh-CN" sz="1080">
                <a:solidFill>
                  <a:srgbClr val="516679"/>
                </a:solidFill>
                <a:latin typeface="Microsoft YaHei"/>
                <a:ea typeface="Microsoft YaHei"/>
                <a:cs typeface="Microsoft YaHei"/>
              </a:rPr>
              <a:t>JSON 打包 + NVS 状态保存</a:t>
            </a:r>
            <a:endParaRPr lang="zh-CN" sz="1080"/>
          </a:p>
        </p:txBody>
      </p:sp>
      <p:sp>
        <p:nvSpPr>
          <p:cNvPr id="40" name="Decision"/>
          <p:cNvSpPr txBox="1"/>
          <p:nvPr/>
        </p:nvSpPr>
        <p:spPr>
          <a:xfrm>
            <a:off x="6766560" y="2889504"/>
            <a:ext cx="1600200" cy="512064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5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无可用 WiFi？</a:t>
            </a:r>
            <a:endParaRPr lang="zh-CN" sz="1500"/>
          </a:p>
        </p:txBody>
      </p:sp>
      <p:sp>
        <p:nvSpPr>
          <p:cNvPr id="41" name="Branch41"/>
          <p:cNvSpPr txBox="1"/>
          <p:nvPr/>
        </p:nvSpPr>
        <p:spPr>
          <a:xfrm>
            <a:off x="6766560" y="3657600"/>
            <a:ext cx="1572768" cy="512064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54864" tIns="36576" rIns="54864" bIns="36576" anchor="ctr"/>
          <a:lstStyle/>
          <a:p>
            <a:pPr algn="ctr"/>
            <a:r>
              <a:rPr lang="zh-CN" sz="145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启动 AP 配网</a:t>
            </a:r>
            <a:endParaRPr lang="zh-CN" sz="1450"/>
          </a:p>
        </p:txBody>
      </p:sp>
      <p:sp>
        <p:nvSpPr>
          <p:cNvPr id="42" name="Branch42"/>
          <p:cNvSpPr txBox="1"/>
          <p:nvPr/>
        </p:nvSpPr>
        <p:spPr>
          <a:xfrm>
            <a:off x="8613648" y="3657600"/>
            <a:ext cx="1572768" cy="512064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54864" tIns="36576" rIns="54864" bIns="36576" anchor="ctr"/>
          <a:lstStyle/>
          <a:p>
            <a:pPr algn="ctr"/>
            <a:r>
              <a:rPr lang="zh-CN" sz="145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网页提交信息</a:t>
            </a:r>
            <a:endParaRPr lang="zh-CN" sz="1450"/>
          </a:p>
        </p:txBody>
      </p:sp>
      <p:sp>
        <p:nvSpPr>
          <p:cNvPr id="43" name="Branch43"/>
          <p:cNvSpPr txBox="1"/>
          <p:nvPr/>
        </p:nvSpPr>
        <p:spPr>
          <a:xfrm>
            <a:off x="7699248" y="4462272"/>
            <a:ext cx="1572768" cy="512064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54864" tIns="36576" rIns="54864" bIns="36576" anchor="ctr"/>
          <a:lstStyle/>
          <a:p>
            <a:pPr algn="ctr"/>
            <a:r>
              <a:rPr lang="zh-CN" sz="145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保存新凭据</a:t>
            </a:r>
            <a:endParaRPr lang="zh-CN" sz="1450"/>
          </a:p>
        </p:txBody>
      </p:sp>
      <p:sp>
        <p:nvSpPr>
          <p:cNvPr id="50" name="Arrow50"/>
          <p:cNvSpPr txBox="1"/>
          <p:nvPr/>
        </p:nvSpPr>
        <p:spPr>
          <a:xfrm>
            <a:off x="6355080" y="299923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51" name="Arrow51"/>
          <p:cNvSpPr txBox="1"/>
          <p:nvPr/>
        </p:nvSpPr>
        <p:spPr>
          <a:xfrm>
            <a:off x="8183879" y="3785615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52" name="Arrow52"/>
          <p:cNvSpPr txBox="1"/>
          <p:nvPr/>
        </p:nvSpPr>
        <p:spPr>
          <a:xfrm>
            <a:off x="8275320" y="4160520"/>
            <a:ext cx="1645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00"/>
          </a:p>
        </p:txBody>
      </p:sp>
      <p:sp>
        <p:nvSpPr>
          <p:cNvPr id="53" name="Arrow53"/>
          <p:cNvSpPr txBox="1"/>
          <p:nvPr/>
        </p:nvSpPr>
        <p:spPr>
          <a:xfrm>
            <a:off x="7269480" y="4590288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←</a:t>
            </a:r>
            <a:endParaRPr lang="zh-CN" sz="1700"/>
          </a:p>
        </p:txBody>
      </p:sp>
      <p:sp>
        <p:nvSpPr>
          <p:cNvPr id="54" name="Arrow54"/>
          <p:cNvSpPr txBox="1"/>
          <p:nvPr/>
        </p:nvSpPr>
        <p:spPr>
          <a:xfrm>
            <a:off x="6537960" y="3858768"/>
            <a:ext cx="164592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↑</a:t>
            </a:r>
            <a:endParaRPr lang="zh-CN" sz="1700"/>
          </a:p>
        </p:txBody>
      </p:sp>
      <p:sp>
        <p:nvSpPr>
          <p:cNvPr id="60" name="Note"/>
          <p:cNvSpPr txBox="1"/>
          <p:nvPr/>
        </p:nvSpPr>
        <p:spPr>
          <a:xfrm>
            <a:off x="6720840" y="5376672"/>
            <a:ext cx="3401568" cy="658368"/>
          </a:xfrm>
          <a:prstGeom prst="rect">
            <a:avLst/>
          </a:prstGeom>
          <a:solidFill>
            <a:srgbClr val="EEF6FC"/>
          </a:solidFill>
          <a:ln w="12700">
            <a:solidFill>
              <a:srgbClr val="BFD0E1"/>
            </a:solidFill>
          </a:ln>
        </p:spPr>
        <p:txBody>
          <a:bodyPr wrap="square" lIns="109728" tIns="73152" rIns="109728" bIns="54864" anchor="ctr"/>
          <a:lstStyle/>
          <a:p>
            <a:pPr algn="l"/>
            <a:r>
              <a:rPr lang="zh-CN" sz="1280">
                <a:solidFill>
                  <a:srgbClr val="4B6278"/>
                </a:solidFill>
                <a:latin typeface="Microsoft YaHei"/>
                <a:ea typeface="Microsoft YaHei"/>
                <a:cs typeface="Microsoft YaHei"/>
              </a:rPr>
              <a:t>如果老师问配网逻辑，这里就可以顺着讲成：先读历史配置，不行就进 AP，再回到主链路</a:t>
            </a:r>
            <a:endParaRPr lang="zh-CN" sz="1280"/>
          </a:p>
        </p:txBody>
      </p:sp>
      <p:sp>
        <p:nvSpPr>
          <p:cNvPr id="7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10 / 18</a:t>
            </a:r>
            <a:endParaRPr lang="zh-CN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eftOverlay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03D73">
              <a:alpha val="74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GreenBar"/>
          <p:cNvSpPr/>
          <p:nvPr/>
        </p:nvSpPr>
        <p:spPr>
          <a:xfrm>
            <a:off x="640080" y="1051560"/>
            <a:ext cx="146304" cy="1325880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" name="SectionNo"/>
          <p:cNvSpPr txBox="1"/>
          <p:nvPr/>
        </p:nvSpPr>
        <p:spPr>
          <a:xfrm>
            <a:off x="868680" y="82296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3000" b="1">
                <a:solidFill>
                  <a:srgbClr val="D8EB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3000"/>
          </a:p>
        </p:txBody>
      </p:sp>
      <p:sp>
        <p:nvSpPr>
          <p:cNvPr id="6" name="SectionTitle"/>
          <p:cNvSpPr txBox="1"/>
          <p:nvPr/>
        </p:nvSpPr>
        <p:spPr>
          <a:xfrm>
            <a:off x="868680" y="1828800"/>
            <a:ext cx="306324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关键实现与测试</a:t>
            </a:r>
            <a:endParaRPr lang="zh-CN" sz="2800"/>
          </a:p>
          <a:p>
            <a:pPr algn="l"/>
            <a:r>
              <a:rPr lang="zh-CN" sz="1350">
                <a:solidFill>
                  <a:srgbClr val="D6E6F9"/>
                </a:solidFill>
                <a:latin typeface="Microsoft YaHei"/>
                <a:ea typeface="Microsoft YaHei"/>
                <a:cs typeface="Microsoft YaHei"/>
              </a:rPr>
              <a:t>围绕配网、采集、上报、OTA 与联调结果展开</a:t>
            </a:r>
            <a:endParaRPr lang="zh-CN" sz="1350"/>
          </a:p>
        </p:txBody>
      </p:sp>
      <p:sp>
        <p:nvSpPr>
          <p:cNvPr id="7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8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11 / 18</a:t>
            </a:r>
            <a:endParaRPr lang="zh-CN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49808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0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关键功能实现</a:t>
            </a:r>
            <a:endParaRPr lang="zh-CN" sz="2800"/>
          </a:p>
        </p:txBody>
      </p:sp>
      <p:sp>
        <p:nvSpPr>
          <p:cNvPr id="4" name="Block4"/>
          <p:cNvSpPr txBox="1"/>
          <p:nvPr/>
        </p:nvSpPr>
        <p:spPr>
          <a:xfrm>
            <a:off x="713232" y="1463040"/>
            <a:ext cx="3840480" cy="4343400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164592" tIns="146304" rIns="164592" bIns="109728" anchor="t"/>
          <a:lstStyle/>
          <a:p>
            <a:pPr algn="l"/>
            <a:r>
              <a:rPr lang="zh-CN" sz="22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部署与接入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网关支持 AP 热点配网和网页提交 WiFi 信息，更适合现场首次部署或重新配置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保存成功后可自动进入主链路联网流程</a:t>
            </a:r>
            <a:endParaRPr lang="zh-CN" sz="1550"/>
          </a:p>
        </p:txBody>
      </p:sp>
      <p:sp>
        <p:nvSpPr>
          <p:cNvPr id="5" name="BlockAccent4"/>
          <p:cNvSpPr/>
          <p:nvPr/>
        </p:nvSpPr>
        <p:spPr>
          <a:xfrm>
            <a:off x="713232" y="1463040"/>
            <a:ext cx="3840480" cy="146304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8" name="Block8"/>
          <p:cNvSpPr txBox="1"/>
          <p:nvPr/>
        </p:nvSpPr>
        <p:spPr>
          <a:xfrm>
            <a:off x="4782312" y="1463040"/>
            <a:ext cx="5440680" cy="182880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164592" tIns="146304" rIns="164592" bIns="109728" anchor="t"/>
          <a:lstStyle/>
          <a:p>
            <a:pPr algn="l"/>
            <a:r>
              <a:rPr lang="zh-CN" sz="22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采集与解析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LoRa 支持在线查询、CRC8 校验和节点数据解析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土壤传感器通过 Modbus 读取参数，网关空气数据则由 I2C 真实采集</a:t>
            </a:r>
            <a:endParaRPr lang="zh-CN" sz="1550"/>
          </a:p>
        </p:txBody>
      </p:sp>
      <p:sp>
        <p:nvSpPr>
          <p:cNvPr id="9" name="BlockAccent8"/>
          <p:cNvSpPr/>
          <p:nvPr/>
        </p:nvSpPr>
        <p:spPr>
          <a:xfrm>
            <a:off x="4782312" y="1463040"/>
            <a:ext cx="5440680" cy="146304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2" name="Block12"/>
          <p:cNvSpPr txBox="1"/>
          <p:nvPr/>
        </p:nvSpPr>
        <p:spPr>
          <a:xfrm>
            <a:off x="4782312" y="3566160"/>
            <a:ext cx="5440680" cy="2240280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164592" tIns="146304" rIns="164592" bIns="109728" anchor="t"/>
          <a:lstStyle/>
          <a:p>
            <a:pPr algn="l"/>
            <a:r>
              <a:rPr lang="zh-CN" sz="22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平台与维护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MQTT 完成属性上报、平台指令处理和节点代理上传</a:t>
            </a:r>
            <a:endParaRPr lang="zh-CN" sz="1550"/>
          </a:p>
          <a:p>
            <a:pPr algn="l"/>
            <a:r>
              <a:rPr lang="zh-CN" sz="1550">
                <a:solidFill>
                  <a:srgbClr val="2F2F2F"/>
                </a:solidFill>
                <a:latin typeface="Microsoft YaHei"/>
                <a:ea typeface="Microsoft YaHei"/>
                <a:cs typeface="Microsoft YaHei"/>
              </a:rPr>
              <a:t>- 网关 OTA 主流程已接入当前程序链路，具备继续完善的基础</a:t>
            </a:r>
            <a:endParaRPr lang="zh-CN" sz="1550"/>
          </a:p>
        </p:txBody>
      </p:sp>
      <p:sp>
        <p:nvSpPr>
          <p:cNvPr id="13" name="BlockAccent12"/>
          <p:cNvSpPr/>
          <p:nvPr/>
        </p:nvSpPr>
        <p:spPr>
          <a:xfrm>
            <a:off x="4782312" y="3566160"/>
            <a:ext cx="5440680" cy="146304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12 / 18</a:t>
            </a:r>
            <a:endParaRPr lang="zh-CN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C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49808"/>
            <a:ext cx="530352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5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数据上传流程图</a:t>
            </a:r>
            <a:endParaRPr lang="zh-CN" sz="2850"/>
          </a:p>
        </p:txBody>
      </p:sp>
      <p:sp>
        <p:nvSpPr>
          <p:cNvPr id="4" name="Desc"/>
          <p:cNvSpPr txBox="1"/>
          <p:nvPr/>
        </p:nvSpPr>
        <p:spPr>
          <a:xfrm>
            <a:off x="749808" y="1325880"/>
            <a:ext cx="56692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330">
                <a:solidFill>
                  <a:srgbClr val="5B6E80"/>
                </a:solidFill>
                <a:latin typeface="Microsoft YaHei"/>
                <a:ea typeface="Microsoft YaHei"/>
                <a:cs typeface="Microsoft YaHei"/>
              </a:rPr>
              <a:t>这一页最适合说明网关为什么不是简单中转，而是做了汇总、解析和统一上报</a:t>
            </a:r>
            <a:endParaRPr lang="zh-CN" sz="1330"/>
          </a:p>
        </p:txBody>
      </p:sp>
      <p:sp>
        <p:nvSpPr>
          <p:cNvPr id="10" name="Source10"/>
          <p:cNvSpPr txBox="1"/>
          <p:nvPr/>
        </p:nvSpPr>
        <p:spPr>
          <a:xfrm>
            <a:off x="841248" y="1965960"/>
            <a:ext cx="2331720" cy="822960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73152" tIns="73152" rIns="73152" bIns="54864" anchor="ctr"/>
          <a:lstStyle/>
          <a:p>
            <a:pPr algn="ctr"/>
            <a:r>
              <a:rPr lang="zh-CN" sz="18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土壤参数</a:t>
            </a:r>
            <a:endParaRPr lang="zh-CN" sz="1800"/>
          </a:p>
          <a:p>
            <a:pPr algn="ctr"/>
            <a:r>
              <a:rPr lang="zh-CN" sz="1150">
                <a:solidFill>
                  <a:srgbClr val="4D6173"/>
                </a:solidFill>
                <a:latin typeface="Microsoft YaHei"/>
                <a:ea typeface="Microsoft YaHei"/>
                <a:cs typeface="Microsoft YaHei"/>
              </a:rPr>
              <a:t>温湿度 / 电导率 / 氮磷钾</a:t>
            </a:r>
            <a:endParaRPr lang="zh-CN" sz="1150"/>
          </a:p>
        </p:txBody>
      </p:sp>
      <p:sp>
        <p:nvSpPr>
          <p:cNvPr id="20" name="SourceArrow10"/>
          <p:cNvSpPr txBox="1"/>
          <p:nvPr/>
        </p:nvSpPr>
        <p:spPr>
          <a:xfrm>
            <a:off x="3319272" y="22219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11" name="Source11"/>
          <p:cNvSpPr txBox="1"/>
          <p:nvPr/>
        </p:nvSpPr>
        <p:spPr>
          <a:xfrm>
            <a:off x="841248" y="3182112"/>
            <a:ext cx="2331720" cy="82296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73152" tIns="73152" rIns="73152" bIns="54864" anchor="ctr"/>
          <a:lstStyle/>
          <a:p>
            <a:pPr algn="ctr"/>
            <a:r>
              <a:rPr lang="zh-CN" sz="18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空气参数</a:t>
            </a:r>
            <a:endParaRPr lang="zh-CN" sz="1800"/>
          </a:p>
          <a:p>
            <a:pPr algn="ctr"/>
            <a:r>
              <a:rPr lang="zh-CN" sz="1150">
                <a:solidFill>
                  <a:srgbClr val="4D6173"/>
                </a:solidFill>
                <a:latin typeface="Microsoft YaHei"/>
                <a:ea typeface="Microsoft YaHei"/>
                <a:cs typeface="Microsoft YaHei"/>
              </a:rPr>
              <a:t>SHT30 + BH1750 真实采集</a:t>
            </a:r>
            <a:endParaRPr lang="zh-CN" sz="1150"/>
          </a:p>
        </p:txBody>
      </p:sp>
      <p:sp>
        <p:nvSpPr>
          <p:cNvPr id="21" name="SourceArrow11"/>
          <p:cNvSpPr txBox="1"/>
          <p:nvPr/>
        </p:nvSpPr>
        <p:spPr>
          <a:xfrm>
            <a:off x="3319272" y="343814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12" name="Source12"/>
          <p:cNvSpPr txBox="1"/>
          <p:nvPr/>
        </p:nvSpPr>
        <p:spPr>
          <a:xfrm>
            <a:off x="841248" y="4398264"/>
            <a:ext cx="2331720" cy="822960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73152" tIns="73152" rIns="73152" bIns="54864" anchor="ctr"/>
          <a:lstStyle/>
          <a:p>
            <a:pPr algn="ctr"/>
            <a:r>
              <a:rPr lang="zh-CN" sz="18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LoRa 节点</a:t>
            </a:r>
            <a:endParaRPr lang="zh-CN" sz="1800"/>
          </a:p>
          <a:p>
            <a:pPr algn="ctr"/>
            <a:r>
              <a:rPr lang="zh-CN" sz="1150">
                <a:solidFill>
                  <a:srgbClr val="4D6173"/>
                </a:solidFill>
                <a:latin typeface="Microsoft YaHei"/>
                <a:ea typeface="Microsoft YaHei"/>
                <a:cs typeface="Microsoft YaHei"/>
              </a:rPr>
              <a:t>子节点环境数据回传</a:t>
            </a:r>
            <a:endParaRPr lang="zh-CN" sz="1150"/>
          </a:p>
        </p:txBody>
      </p:sp>
      <p:sp>
        <p:nvSpPr>
          <p:cNvPr id="22" name="SourceArrow12"/>
          <p:cNvSpPr txBox="1"/>
          <p:nvPr/>
        </p:nvSpPr>
        <p:spPr>
          <a:xfrm>
            <a:off x="3319272" y="465429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30" name="GatewayBox"/>
          <p:cNvSpPr txBox="1"/>
          <p:nvPr/>
        </p:nvSpPr>
        <p:spPr>
          <a:xfrm>
            <a:off x="3950208" y="2359152"/>
            <a:ext cx="23774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73E69"/>
            </a:solidFill>
          </a:ln>
        </p:spPr>
        <p:txBody>
          <a:bodyPr wrap="square" lIns="109728" tIns="109728" rIns="109728" bIns="91440" anchor="ctr"/>
          <a:lstStyle/>
          <a:p>
            <a:pPr algn="ctr"/>
            <a:r>
              <a:rPr lang="zh-CN" sz="220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网关统一处理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6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数据汇总</a:t>
            </a:r>
            <a:endParaRPr lang="zh-CN" sz="1600"/>
          </a:p>
          <a:p>
            <a:pPr algn="ctr"/>
            <a:r>
              <a:rPr lang="zh-CN" sz="16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字段映射</a:t>
            </a:r>
            <a:endParaRPr lang="zh-CN" sz="1600"/>
          </a:p>
          <a:p>
            <a:pPr algn="ctr"/>
            <a:r>
              <a:rPr lang="zh-CN" sz="16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异常过滤</a:t>
            </a:r>
            <a:endParaRPr lang="zh-CN" sz="1600"/>
          </a:p>
        </p:txBody>
      </p:sp>
      <p:sp>
        <p:nvSpPr>
          <p:cNvPr id="31" name="RightStep31"/>
          <p:cNvSpPr txBox="1"/>
          <p:nvPr/>
        </p:nvSpPr>
        <p:spPr>
          <a:xfrm>
            <a:off x="6720840" y="1965960"/>
            <a:ext cx="3154680" cy="841248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73152" tIns="73152" rIns="73152" bIns="54864" anchor="ctr"/>
          <a:lstStyle/>
          <a:p>
            <a:pPr algn="ctr"/>
            <a:r>
              <a:rPr lang="zh-CN" sz="18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JSON 封装</a:t>
            </a:r>
            <a:endParaRPr lang="zh-CN" sz="1800"/>
          </a:p>
          <a:p>
            <a:pPr algn="ctr"/>
            <a:r>
              <a:rPr lang="zh-CN" sz="1180">
                <a:solidFill>
                  <a:srgbClr val="4D6173"/>
                </a:solidFill>
                <a:latin typeface="Microsoft YaHei"/>
                <a:ea typeface="Microsoft YaHei"/>
                <a:cs typeface="Microsoft YaHei"/>
              </a:rPr>
              <a:t>统一生成平台上报载荷</a:t>
            </a:r>
            <a:endParaRPr lang="zh-CN" sz="1180"/>
          </a:p>
        </p:txBody>
      </p:sp>
      <p:sp>
        <p:nvSpPr>
          <p:cNvPr id="32" name="RightStep32"/>
          <p:cNvSpPr txBox="1"/>
          <p:nvPr/>
        </p:nvSpPr>
        <p:spPr>
          <a:xfrm>
            <a:off x="6720840" y="3154680"/>
            <a:ext cx="3154680" cy="841248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73152" tIns="73152" rIns="73152" bIns="54864" anchor="ctr"/>
          <a:lstStyle/>
          <a:p>
            <a:pPr algn="ctr"/>
            <a:r>
              <a:rPr lang="zh-CN" sz="18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MQTT 发布</a:t>
            </a:r>
            <a:endParaRPr lang="zh-CN" sz="1800"/>
          </a:p>
          <a:p>
            <a:pPr algn="ctr"/>
            <a:r>
              <a:rPr lang="zh-CN" sz="1180">
                <a:solidFill>
                  <a:srgbClr val="4D6173"/>
                </a:solidFill>
                <a:latin typeface="Microsoft YaHei"/>
                <a:ea typeface="Microsoft YaHei"/>
                <a:cs typeface="Microsoft YaHei"/>
              </a:rPr>
              <a:t>通过主题上报到 OneNET</a:t>
            </a:r>
            <a:endParaRPr lang="zh-CN" sz="1180"/>
          </a:p>
        </p:txBody>
      </p:sp>
      <p:sp>
        <p:nvSpPr>
          <p:cNvPr id="33" name="RightStep33"/>
          <p:cNvSpPr txBox="1"/>
          <p:nvPr/>
        </p:nvSpPr>
        <p:spPr>
          <a:xfrm>
            <a:off x="6720840" y="4343400"/>
            <a:ext cx="3154680" cy="841248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73152" tIns="73152" rIns="73152" bIns="54864" anchor="ctr"/>
          <a:lstStyle/>
          <a:p>
            <a:pPr algn="ctr"/>
            <a:r>
              <a:rPr lang="zh-CN" sz="18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平台展示</a:t>
            </a:r>
            <a:endParaRPr lang="zh-CN" sz="1800"/>
          </a:p>
          <a:p>
            <a:pPr algn="ctr"/>
            <a:r>
              <a:rPr lang="zh-CN" sz="1180">
                <a:solidFill>
                  <a:srgbClr val="4D6173"/>
                </a:solidFill>
                <a:latin typeface="Microsoft YaHei"/>
                <a:ea typeface="Microsoft YaHei"/>
                <a:cs typeface="Microsoft YaHei"/>
              </a:rPr>
              <a:t>状态显示、远程查看与管理</a:t>
            </a:r>
            <a:endParaRPr lang="zh-CN" sz="1180"/>
          </a:p>
        </p:txBody>
      </p:sp>
      <p:sp>
        <p:nvSpPr>
          <p:cNvPr id="40" name="Arrow40"/>
          <p:cNvSpPr txBox="1"/>
          <p:nvPr/>
        </p:nvSpPr>
        <p:spPr>
          <a:xfrm>
            <a:off x="6382512" y="33101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41" name="Arrow41"/>
          <p:cNvSpPr txBox="1"/>
          <p:nvPr/>
        </p:nvSpPr>
        <p:spPr>
          <a:xfrm>
            <a:off x="8046720" y="2834640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00"/>
          </a:p>
        </p:txBody>
      </p:sp>
      <p:sp>
        <p:nvSpPr>
          <p:cNvPr id="42" name="Arrow42"/>
          <p:cNvSpPr txBox="1"/>
          <p:nvPr/>
        </p:nvSpPr>
        <p:spPr>
          <a:xfrm>
            <a:off x="8046720" y="4023360"/>
            <a:ext cx="2011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lang="zh-CN" sz="1700"/>
          </a:p>
        </p:txBody>
      </p:sp>
      <p:sp>
        <p:nvSpPr>
          <p:cNvPr id="50" name="Note"/>
          <p:cNvSpPr txBox="1"/>
          <p:nvPr/>
        </p:nvSpPr>
        <p:spPr>
          <a:xfrm>
            <a:off x="841248" y="5623560"/>
            <a:ext cx="9006840" cy="502920"/>
          </a:xfrm>
          <a:prstGeom prst="rect">
            <a:avLst/>
          </a:prstGeom>
          <a:solidFill>
            <a:srgbClr val="F4F8FC"/>
          </a:solidFill>
          <a:ln w="12700">
            <a:solidFill>
              <a:srgbClr val="C6D6E6"/>
            </a:solidFill>
          </a:ln>
        </p:spPr>
        <p:txBody>
          <a:bodyPr wrap="square" lIns="109728" tIns="73152" rIns="109728" bIns="54864" anchor="ctr"/>
          <a:lstStyle/>
          <a:p>
            <a:pPr algn="l"/>
            <a:r>
              <a:rPr lang="zh-CN" sz="1280">
                <a:solidFill>
                  <a:srgbClr val="4B6278"/>
                </a:solidFill>
                <a:latin typeface="Microsoft YaHei"/>
                <a:ea typeface="Microsoft YaHei"/>
                <a:cs typeface="Microsoft YaHei"/>
              </a:rPr>
              <a:t>答辩时可以顺手强调一句：多路数据最后没有各传各的，而是先在网关侧做统一组织，再走同一条平台上传链路</a:t>
            </a:r>
            <a:endParaRPr lang="zh-CN" sz="1280"/>
          </a:p>
        </p:txBody>
      </p:sp>
      <p:sp>
        <p:nvSpPr>
          <p:cNvPr id="6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13 / 18</a:t>
            </a:r>
            <a:endParaRPr lang="zh-CN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8229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测试结果与系统表现</a:t>
            </a:r>
            <a:endParaRPr lang="zh-CN" sz="2600"/>
          </a:p>
        </p:txBody>
      </p:sp>
      <p:sp>
        <p:nvSpPr>
          <p:cNvPr id="4" name="Metric0"/>
          <p:cNvSpPr txBox="1"/>
          <p:nvPr/>
        </p:nvSpPr>
        <p:spPr>
          <a:xfrm>
            <a:off x="731520" y="1143000"/>
            <a:ext cx="3063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5EAB"/>
            </a:solidFill>
          </a:ln>
        </p:spPr>
        <p:txBody>
          <a:bodyPr wrap="square" lIns="128016" tIns="128016" rIns="128016" bIns="128016" anchor="ctr"/>
          <a:lstStyle/>
          <a:p>
            <a:pPr algn="ctr"/>
            <a:r>
              <a:rPr lang="zh-CN" sz="21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LoRa 链路</a:t>
            </a:r>
            <a:endParaRPr lang="zh-CN" sz="2100"/>
          </a:p>
          <a:p>
            <a:pPr algn="ctr"/>
            <a:r>
              <a:rPr lang="zh-CN" sz="1350">
                <a:solidFill>
                  <a:srgbClr val="36495E"/>
                </a:solidFill>
                <a:latin typeface="Microsoft YaHei"/>
                <a:ea typeface="Microsoft YaHei"/>
                <a:cs typeface="Microsoft YaHei"/>
              </a:rPr>
              <a:t>查询 / 接收 / 解析正常</a:t>
            </a:r>
            <a:endParaRPr lang="zh-CN" sz="1350"/>
          </a:p>
        </p:txBody>
      </p:sp>
      <p:sp>
        <p:nvSpPr>
          <p:cNvPr id="5" name="Metric1"/>
          <p:cNvSpPr txBox="1"/>
          <p:nvPr/>
        </p:nvSpPr>
        <p:spPr>
          <a:xfrm>
            <a:off x="4343400" y="1143000"/>
            <a:ext cx="3063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37A"/>
            </a:solidFill>
          </a:ln>
        </p:spPr>
        <p:txBody>
          <a:bodyPr wrap="square" lIns="128016" tIns="128016" rIns="128016" bIns="128016" anchor="ctr"/>
          <a:lstStyle/>
          <a:p>
            <a:pPr algn="ctr"/>
            <a:r>
              <a:rPr lang="zh-CN" sz="21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平台上报</a:t>
            </a:r>
            <a:endParaRPr lang="zh-CN" sz="2100"/>
          </a:p>
          <a:p>
            <a:pPr algn="ctr"/>
            <a:r>
              <a:rPr lang="zh-CN" sz="1350">
                <a:solidFill>
                  <a:srgbClr val="36495E"/>
                </a:solidFill>
                <a:latin typeface="Microsoft YaHei"/>
                <a:ea typeface="Microsoft YaHei"/>
                <a:cs typeface="Microsoft YaHei"/>
              </a:rPr>
              <a:t>温湿度、光照、土壤参数显示正常</a:t>
            </a:r>
            <a:endParaRPr lang="zh-CN" sz="1350"/>
          </a:p>
        </p:txBody>
      </p:sp>
      <p:sp>
        <p:nvSpPr>
          <p:cNvPr id="6" name="Metric2"/>
          <p:cNvSpPr txBox="1"/>
          <p:nvPr/>
        </p:nvSpPr>
        <p:spPr>
          <a:xfrm>
            <a:off x="7955280" y="1143000"/>
            <a:ext cx="30632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4E6FAE"/>
            </a:solidFill>
          </a:ln>
        </p:spPr>
        <p:txBody>
          <a:bodyPr wrap="square" lIns="128016" tIns="128016" rIns="128016" bIns="128016" anchor="ctr"/>
          <a:lstStyle/>
          <a:p>
            <a:pPr algn="ctr"/>
            <a:r>
              <a:rPr lang="zh-CN" sz="2100" b="1">
                <a:solidFill>
                  <a:srgbClr val="4E6FAE"/>
                </a:solidFill>
                <a:latin typeface="Microsoft YaHei"/>
                <a:ea typeface="Microsoft YaHei"/>
                <a:cs typeface="Microsoft YaHei"/>
              </a:rPr>
              <a:t>网关 OTA</a:t>
            </a:r>
            <a:endParaRPr lang="zh-CN" sz="2100"/>
          </a:p>
          <a:p>
            <a:pPr algn="ctr"/>
            <a:r>
              <a:rPr lang="zh-CN" sz="1350">
                <a:solidFill>
                  <a:srgbClr val="36495E"/>
                </a:solidFill>
                <a:latin typeface="Microsoft YaHei"/>
                <a:ea typeface="Microsoft YaHei"/>
                <a:cs typeface="Microsoft YaHei"/>
              </a:rPr>
              <a:t>版本上报、任务检测与分区切换已实现</a:t>
            </a:r>
            <a:endParaRPr lang="zh-CN" sz="1350"/>
          </a:p>
        </p:txBody>
      </p:sp>
      <p:sp>
        <p:nvSpPr>
          <p:cNvPr id="10" name="SummaryBox"/>
          <p:cNvSpPr txBox="1"/>
          <p:nvPr/>
        </p:nvSpPr>
        <p:spPr>
          <a:xfrm>
            <a:off x="731520" y="2834640"/>
            <a:ext cx="6400800" cy="2651760"/>
          </a:xfrm>
          <a:prstGeom prst="rect">
            <a:avLst/>
          </a:prstGeom>
          <a:solidFill>
            <a:srgbClr val="F7FAFE"/>
          </a:solidFill>
          <a:ln w="19050">
            <a:solidFill>
              <a:srgbClr val="D7E3F3"/>
            </a:solidFill>
          </a:ln>
        </p:spPr>
        <p:txBody>
          <a:bodyPr wrap="square" lIns="164592" tIns="164592" rIns="164592" bIns="128016" anchor="t"/>
          <a:lstStyle/>
          <a:p>
            <a:pPr algn="l"/>
            <a:r>
              <a:rPr lang="zh-CN" sz="22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65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>• 系统已经完成基础功能、通信链路、平台上报与 OTA 主流程的联调验证</a:t>
            </a:r>
            <a:endParaRPr lang="zh-CN" sz="1650"/>
          </a:p>
          <a:p>
            <a:pPr algn="l"/>
            <a:r>
              <a:rPr lang="zh-CN" sz="165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>• 网关空气数据已切换为真实 I2C 采集，土壤数据与节点数据可稳定进入统一上传流程</a:t>
            </a:r>
            <a:endParaRPr lang="zh-CN" sz="1650"/>
          </a:p>
          <a:p>
            <a:pPr algn="l"/>
            <a:r>
              <a:rPr lang="zh-CN" sz="165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>• 现阶段已达到课题阶段性目标，但复杂网络环境下的多轮升级和子节点 OTA 仍需继续完善</a:t>
            </a:r>
            <a:endParaRPr lang="zh-CN" sz="1650"/>
          </a:p>
        </p:txBody>
      </p:sp>
      <p:sp>
        <p:nvSpPr>
          <p:cNvPr id="11" name="TagsBox"/>
          <p:cNvSpPr txBox="1"/>
          <p:nvPr/>
        </p:nvSpPr>
        <p:spPr>
          <a:xfrm>
            <a:off x="7452360" y="2834640"/>
            <a:ext cx="2788920" cy="2651760"/>
          </a:xfrm>
          <a:prstGeom prst="rect">
            <a:avLst/>
          </a:prstGeom>
          <a:solidFill>
            <a:srgbClr val="EFFAF5"/>
          </a:solidFill>
          <a:ln w="19050">
            <a:solidFill>
              <a:srgbClr val="76D0AB"/>
            </a:solidFill>
          </a:ln>
        </p:spPr>
        <p:txBody>
          <a:bodyPr wrap="square" lIns="137160" tIns="137160" rIns="137160" bIns="109728" anchor="ctr"/>
          <a:lstStyle/>
          <a:p>
            <a:pPr algn="ctr"/>
            <a:r>
              <a:rPr lang="zh-CN" sz="22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项目特点</a:t>
            </a:r>
            <a:endParaRPr lang="zh-CN" sz="22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ctr"/>
            <a:r>
              <a:rPr lang="zh-CN" sz="18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多源感知</a:t>
            </a:r>
            <a:endParaRPr lang="zh-CN" sz="1800"/>
          </a:p>
          <a:p>
            <a:pPr algn="ctr"/>
            <a:r>
              <a:rPr lang="zh-CN" sz="18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双链路通信</a:t>
            </a:r>
            <a:endParaRPr lang="zh-CN" sz="1800"/>
          </a:p>
          <a:p>
            <a:pPr algn="ctr"/>
            <a:r>
              <a:rPr lang="zh-CN" sz="18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平台交互</a:t>
            </a:r>
            <a:endParaRPr lang="zh-CN" sz="1800"/>
          </a:p>
          <a:p>
            <a:pPr algn="ctr"/>
            <a:r>
              <a:rPr lang="zh-CN" sz="18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远程维护</a:t>
            </a:r>
            <a:endParaRPr lang="zh-CN" sz="1800"/>
          </a:p>
        </p:txBody>
      </p:sp>
      <p:sp>
        <p:nvSpPr>
          <p:cNvPr id="2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14 / 18</a:t>
            </a:r>
            <a:endParaRPr lang="zh-CN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LeftPanel"/>
          <p:cNvSpPr/>
          <p:nvPr/>
        </p:nvSpPr>
        <p:spPr>
          <a:xfrm>
            <a:off x="530352" y="804672"/>
            <a:ext cx="3703320" cy="52303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AccentBar"/>
          <p:cNvSpPr/>
          <p:nvPr/>
        </p:nvSpPr>
        <p:spPr>
          <a:xfrm>
            <a:off x="694944" y="987552"/>
            <a:ext cx="804672" cy="109728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" name="Highlight"/>
          <p:cNvSpPr txBox="1"/>
          <p:nvPr/>
        </p:nvSpPr>
        <p:spPr>
          <a:xfrm>
            <a:off x="749808" y="1234440"/>
            <a:ext cx="320040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100" b="1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rPr>
              <a:t>OTA STATUS</a:t>
            </a:r>
            <a:endParaRPr lang="zh-CN" sz="11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基础架构</a:t>
            </a:r>
            <a:endParaRPr lang="zh-CN" sz="2500"/>
          </a:p>
          <a:p>
            <a:pPr algn="l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已经搭好</a:t>
            </a:r>
            <a:endParaRPr lang="zh-CN" sz="2500"/>
          </a:p>
          <a:p>
            <a:pPr algn="l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闭环仍待补齐</a:t>
            </a:r>
            <a:endParaRPr lang="zh-CN" sz="2500"/>
          </a:p>
        </p:txBody>
      </p:sp>
      <p:sp>
        <p:nvSpPr>
          <p:cNvPr id="6" name="Title"/>
          <p:cNvSpPr txBox="1"/>
          <p:nvPr/>
        </p:nvSpPr>
        <p:spPr>
          <a:xfrm>
            <a:off x="4572000" y="896112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700" b="1">
                <a:solidFill>
                  <a:srgbClr val="173E69"/>
                </a:solidFill>
                <a:latin typeface="Microsoft YaHei"/>
                <a:ea typeface="Microsoft YaHei"/>
                <a:cs typeface="Microsoft YaHei"/>
              </a:rPr>
              <a:t>OTA 升级设计</a:t>
            </a:r>
            <a:endParaRPr lang="zh-CN" sz="2700"/>
          </a:p>
        </p:txBody>
      </p:sp>
      <p:sp>
        <p:nvSpPr>
          <p:cNvPr id="7" name="TitleLine"/>
          <p:cNvSpPr/>
          <p:nvPr/>
        </p:nvSpPr>
        <p:spPr>
          <a:xfrm>
            <a:off x="4572000" y="1481328"/>
            <a:ext cx="1325880" cy="45720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8" name="BulletCard"/>
          <p:cNvSpPr txBox="1"/>
          <p:nvPr/>
        </p:nvSpPr>
        <p:spPr>
          <a:xfrm>
            <a:off x="4572000" y="1783080"/>
            <a:ext cx="562356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5E0EC"/>
            </a:solidFill>
          </a:ln>
        </p:spPr>
        <p:txBody>
          <a:bodyPr wrap="square" lIns="164592" tIns="128016" rIns="164592" bIns="109728" anchor="t"/>
          <a:lstStyle/>
          <a:p>
            <a:pPr algn="l"/>
            <a:r>
              <a:rPr lang="zh-CN" sz="2100" b="1">
                <a:solidFill>
                  <a:srgbClr val="76D0AB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  <a:endParaRPr lang="zh-CN" sz="2100"/>
          </a:p>
          <a:p>
            <a:pPr algn="l"/>
            <a:r>
              <a:rPr lang="zh-CN" sz="1800">
                <a:solidFill>
                  <a:srgbClr val="2A2A2A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/>
            <a:r>
              <a:rPr lang="zh-CN" sz="1620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- 系统已经完成 OTA 写入任务、分片数据缓存、目标分区选择和必要重试机制这些底层基础</a:t>
            </a:r>
            <a:endParaRPr lang="zh-CN" sz="1620"/>
          </a:p>
          <a:p>
            <a:pPr algn="l"/>
            <a:r>
              <a:rPr lang="zh-CN" sz="1620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- 也就是说，当升级数据按既定格式进入系统后，已经有对应任务把数据写入目标分区</a:t>
            </a:r>
            <a:endParaRPr lang="zh-CN" sz="1620"/>
          </a:p>
          <a:p>
            <a:pPr algn="l"/>
            <a:r>
              <a:rPr lang="zh-CN" sz="1620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- 当前真正还没有完全跑通的，是复杂场景下的完整远程升级闭环，以及 LoRa 子节点 OTA 的稳定实现</a:t>
            </a:r>
            <a:endParaRPr lang="zh-CN" sz="1620"/>
          </a:p>
        </p:txBody>
      </p:sp>
      <p:sp>
        <p:nvSpPr>
          <p:cNvPr id="9" name="NoteCard"/>
          <p:cNvSpPr txBox="1"/>
          <p:nvPr/>
        </p:nvSpPr>
        <p:spPr>
          <a:xfrm>
            <a:off x="4572000" y="5303520"/>
            <a:ext cx="5623560" cy="658368"/>
          </a:xfrm>
          <a:prstGeom prst="rect">
            <a:avLst/>
          </a:prstGeom>
          <a:solidFill>
            <a:srgbClr val="EEF6FC"/>
          </a:solidFill>
          <a:ln w="12700">
            <a:solidFill>
              <a:srgbClr val="76D0AB"/>
            </a:solidFill>
          </a:ln>
        </p:spPr>
        <p:txBody>
          <a:bodyPr wrap="square" lIns="128016" tIns="73152" rIns="128016" bIns="54864" anchor="ctr"/>
          <a:lstStyle/>
          <a:p>
            <a:pPr algn="l"/>
            <a:r>
              <a:rPr lang="zh-CN" sz="1400">
                <a:solidFill>
                  <a:srgbClr val="456176"/>
                </a:solidFill>
                <a:latin typeface="Microsoft YaHei"/>
                <a:ea typeface="Microsoft YaHei"/>
                <a:cs typeface="Microsoft YaHei"/>
              </a:rPr>
              <a:t>换句话说，这部分现在不是从零开始，而是主干框架已经立住了，后面继续补测试、补联调，推进起来会顺很多</a:t>
            </a:r>
            <a:endParaRPr lang="zh-CN" sz="1400"/>
          </a:p>
        </p:txBody>
      </p:sp>
      <p:sp>
        <p:nvSpPr>
          <p:cNvPr id="2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15 / 18</a:t>
            </a:r>
            <a:endParaRPr lang="zh-CN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9F1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49808"/>
            <a:ext cx="50292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50" b="1">
                <a:solidFill>
                  <a:srgbClr val="8A5318"/>
                </a:solidFill>
                <a:latin typeface="Microsoft YaHei"/>
                <a:ea typeface="Microsoft YaHei"/>
                <a:cs typeface="Microsoft YaHei"/>
              </a:rPr>
              <a:t>OTA 升级流程图</a:t>
            </a:r>
            <a:endParaRPr lang="zh-CN" sz="2850"/>
          </a:p>
        </p:txBody>
      </p:sp>
      <p:sp>
        <p:nvSpPr>
          <p:cNvPr id="4" name="Desc"/>
          <p:cNvSpPr txBox="1"/>
          <p:nvPr/>
        </p:nvSpPr>
        <p:spPr>
          <a:xfrm>
            <a:off x="749808" y="1325880"/>
            <a:ext cx="59436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330">
                <a:solidFill>
                  <a:srgbClr val="7A664F"/>
                </a:solidFill>
                <a:latin typeface="Microsoft YaHei"/>
                <a:ea typeface="Microsoft YaHei"/>
                <a:cs typeface="Microsoft YaHei"/>
              </a:rPr>
              <a:t>这页用来讲清楚“升级包进来以后系统内部到底怎么走”</a:t>
            </a:r>
            <a:endParaRPr lang="zh-CN" sz="1330"/>
          </a:p>
        </p:txBody>
      </p:sp>
      <p:sp>
        <p:nvSpPr>
          <p:cNvPr id="5" name="MidLine"/>
          <p:cNvSpPr/>
          <p:nvPr/>
        </p:nvSpPr>
        <p:spPr>
          <a:xfrm>
            <a:off x="868680" y="3218688"/>
            <a:ext cx="9464040" cy="73152"/>
          </a:xfrm>
          <a:prstGeom prst="rect">
            <a:avLst/>
          </a:prstGeom>
          <a:solidFill>
            <a:srgbClr val="D8B48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0" name="StepCard10"/>
          <p:cNvSpPr txBox="1"/>
          <p:nvPr/>
        </p:nvSpPr>
        <p:spPr>
          <a:xfrm>
            <a:off x="868680" y="1828800"/>
            <a:ext cx="1097280" cy="914400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zh-CN" sz="15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1500"/>
          </a:p>
          <a:p>
            <a:pPr algn="ctr"/>
            <a:r>
              <a:rPr lang="zh-CN" sz="155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版本上报</a:t>
            </a:r>
            <a:endParaRPr lang="zh-CN" sz="1550"/>
          </a:p>
          <a:p>
            <a:pPr algn="ctr"/>
            <a:r>
              <a:rPr lang="zh-CN" sz="98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设备先上报当前版本</a:t>
            </a:r>
            <a:endParaRPr lang="zh-CN" sz="980"/>
          </a:p>
        </p:txBody>
      </p:sp>
      <p:sp>
        <p:nvSpPr>
          <p:cNvPr id="30" name="StepAnchor10"/>
          <p:cNvSpPr/>
          <p:nvPr/>
        </p:nvSpPr>
        <p:spPr>
          <a:xfrm>
            <a:off x="1316736" y="3017520"/>
            <a:ext cx="201168" cy="2011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1" name="StepCard11"/>
          <p:cNvSpPr txBox="1"/>
          <p:nvPr/>
        </p:nvSpPr>
        <p:spPr>
          <a:xfrm>
            <a:off x="2240280" y="3703320"/>
            <a:ext cx="1097280" cy="91440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zh-CN" sz="15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500"/>
          </a:p>
          <a:p>
            <a:pPr algn="ctr"/>
            <a:r>
              <a:rPr lang="zh-CN" sz="155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任务检测</a:t>
            </a:r>
            <a:endParaRPr lang="zh-CN" sz="1550"/>
          </a:p>
          <a:p>
            <a:pPr algn="ctr"/>
            <a:r>
              <a:rPr lang="zh-CN" sz="98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平台判断是否有升级</a:t>
            </a:r>
            <a:endParaRPr lang="zh-CN" sz="980"/>
          </a:p>
        </p:txBody>
      </p:sp>
      <p:sp>
        <p:nvSpPr>
          <p:cNvPr id="31" name="StepAnchor11"/>
          <p:cNvSpPr/>
          <p:nvPr/>
        </p:nvSpPr>
        <p:spPr>
          <a:xfrm>
            <a:off x="2688336" y="3017520"/>
            <a:ext cx="201168" cy="201168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2" name="StepCard12"/>
          <p:cNvSpPr txBox="1"/>
          <p:nvPr/>
        </p:nvSpPr>
        <p:spPr>
          <a:xfrm>
            <a:off x="3611880" y="1828800"/>
            <a:ext cx="1097280" cy="914400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zh-CN" sz="15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500"/>
          </a:p>
          <a:p>
            <a:pPr algn="ctr"/>
            <a:r>
              <a:rPr lang="zh-CN" sz="155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下载固件</a:t>
            </a:r>
            <a:endParaRPr lang="zh-CN" sz="1550"/>
          </a:p>
          <a:p>
            <a:pPr algn="ctr"/>
            <a:r>
              <a:rPr lang="zh-CN" sz="98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HTTP/HTTPS 获取升级包</a:t>
            </a:r>
            <a:endParaRPr lang="zh-CN" sz="980"/>
          </a:p>
        </p:txBody>
      </p:sp>
      <p:sp>
        <p:nvSpPr>
          <p:cNvPr id="32" name="StepAnchor12"/>
          <p:cNvSpPr/>
          <p:nvPr/>
        </p:nvSpPr>
        <p:spPr>
          <a:xfrm>
            <a:off x="4059936" y="3017520"/>
            <a:ext cx="201168" cy="201168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3" name="StepCard13"/>
          <p:cNvSpPr txBox="1"/>
          <p:nvPr/>
        </p:nvSpPr>
        <p:spPr>
          <a:xfrm>
            <a:off x="4983480" y="3703320"/>
            <a:ext cx="1097280" cy="914400"/>
          </a:xfrm>
          <a:prstGeom prst="rect">
            <a:avLst/>
          </a:prstGeom>
          <a:solidFill>
            <a:srgbClr val="F4F6FE"/>
          </a:solidFill>
          <a:ln w="19050">
            <a:solidFill>
              <a:srgbClr val="4E6FAE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zh-CN" sz="1500" b="1">
                <a:solidFill>
                  <a:srgbClr val="4E6FAE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zh-CN" sz="1500"/>
          </a:p>
          <a:p>
            <a:pPr algn="ctr"/>
            <a:r>
              <a:rPr lang="zh-CN" sz="1550" b="1">
                <a:solidFill>
                  <a:srgbClr val="4E6FAE"/>
                </a:solidFill>
                <a:latin typeface="Microsoft YaHei"/>
                <a:ea typeface="Microsoft YaHei"/>
                <a:cs typeface="Microsoft YaHei"/>
              </a:rPr>
              <a:t>分片缓存</a:t>
            </a:r>
            <a:endParaRPr lang="zh-CN" sz="1550"/>
          </a:p>
          <a:p>
            <a:pPr algn="ctr"/>
            <a:r>
              <a:rPr lang="zh-CN" sz="98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进入队列等待写入</a:t>
            </a:r>
            <a:endParaRPr lang="zh-CN" sz="980"/>
          </a:p>
        </p:txBody>
      </p:sp>
      <p:sp>
        <p:nvSpPr>
          <p:cNvPr id="33" name="StepAnchor13"/>
          <p:cNvSpPr/>
          <p:nvPr/>
        </p:nvSpPr>
        <p:spPr>
          <a:xfrm>
            <a:off x="5431536" y="3017520"/>
            <a:ext cx="201168" cy="201168"/>
          </a:xfrm>
          <a:prstGeom prst="rect">
            <a:avLst/>
          </a:prstGeom>
          <a:solidFill>
            <a:srgbClr val="4E6FAE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4" name="StepCard14"/>
          <p:cNvSpPr txBox="1"/>
          <p:nvPr/>
        </p:nvSpPr>
        <p:spPr>
          <a:xfrm>
            <a:off x="6355080" y="1828800"/>
            <a:ext cx="1097280" cy="914400"/>
          </a:xfrm>
          <a:prstGeom prst="rect">
            <a:avLst/>
          </a:prstGeom>
          <a:solidFill>
            <a:srgbClr val="EAF3FF"/>
          </a:solidFill>
          <a:ln w="19050">
            <a:solidFill>
              <a:srgbClr val="1F5EAB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zh-CN" sz="15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lang="zh-CN" sz="1500"/>
          </a:p>
          <a:p>
            <a:pPr algn="ctr"/>
            <a:r>
              <a:rPr lang="zh-CN" sz="155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写入分区</a:t>
            </a:r>
            <a:endParaRPr lang="zh-CN" sz="1550"/>
          </a:p>
          <a:p>
            <a:pPr algn="ctr"/>
            <a:r>
              <a:rPr lang="zh-CN" sz="98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写入 ota_0 / ota_1</a:t>
            </a:r>
            <a:endParaRPr lang="zh-CN" sz="980"/>
          </a:p>
        </p:txBody>
      </p:sp>
      <p:sp>
        <p:nvSpPr>
          <p:cNvPr id="34" name="StepAnchor14"/>
          <p:cNvSpPr/>
          <p:nvPr/>
        </p:nvSpPr>
        <p:spPr>
          <a:xfrm>
            <a:off x="6803136" y="3017520"/>
            <a:ext cx="201168" cy="201168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5" name="StepCard15"/>
          <p:cNvSpPr txBox="1"/>
          <p:nvPr/>
        </p:nvSpPr>
        <p:spPr>
          <a:xfrm>
            <a:off x="7726679" y="3703320"/>
            <a:ext cx="1097280" cy="914400"/>
          </a:xfrm>
          <a:prstGeom prst="rect">
            <a:avLst/>
          </a:prstGeom>
          <a:solidFill>
            <a:srgbClr val="EFFAF5"/>
          </a:solidFill>
          <a:ln w="19050">
            <a:solidFill>
              <a:srgbClr val="38A37A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zh-CN" sz="15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lang="zh-CN" sz="1500"/>
          </a:p>
          <a:p>
            <a:pPr algn="ctr"/>
            <a:r>
              <a:rPr lang="zh-CN" sz="155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校验切换</a:t>
            </a:r>
            <a:endParaRPr lang="zh-CN" sz="1550"/>
          </a:p>
          <a:p>
            <a:pPr algn="ctr"/>
            <a:r>
              <a:rPr lang="zh-CN" sz="98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校验成功后切换启动分区</a:t>
            </a:r>
            <a:endParaRPr lang="zh-CN" sz="980"/>
          </a:p>
        </p:txBody>
      </p:sp>
      <p:sp>
        <p:nvSpPr>
          <p:cNvPr id="35" name="StepAnchor15"/>
          <p:cNvSpPr/>
          <p:nvPr/>
        </p:nvSpPr>
        <p:spPr>
          <a:xfrm>
            <a:off x="8174735" y="3017520"/>
            <a:ext cx="201168" cy="201168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6" name="StepCard16"/>
          <p:cNvSpPr txBox="1"/>
          <p:nvPr/>
        </p:nvSpPr>
        <p:spPr>
          <a:xfrm>
            <a:off x="9098280" y="1828800"/>
            <a:ext cx="1097280" cy="914400"/>
          </a:xfrm>
          <a:prstGeom prst="rect">
            <a:avLst/>
          </a:prstGeom>
          <a:solidFill>
            <a:srgbClr val="FFF5E8"/>
          </a:solidFill>
          <a:ln w="19050">
            <a:solidFill>
              <a:srgbClr val="C8872D"/>
            </a:solidFill>
          </a:ln>
        </p:spPr>
        <p:txBody>
          <a:bodyPr wrap="square" lIns="45720" tIns="45720" rIns="45720" bIns="45720" anchor="ctr"/>
          <a:lstStyle/>
          <a:p>
            <a:pPr algn="ctr"/>
            <a:r>
              <a:rPr lang="zh-CN" sz="15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lang="zh-CN" sz="1500"/>
          </a:p>
          <a:p>
            <a:pPr algn="ctr"/>
            <a:r>
              <a:rPr lang="zh-CN" sz="155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重启回报</a:t>
            </a:r>
            <a:endParaRPr lang="zh-CN" sz="1550"/>
          </a:p>
          <a:p>
            <a:pPr algn="ctr"/>
            <a:r>
              <a:rPr lang="zh-CN" sz="98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运行新版本并回报结果</a:t>
            </a:r>
            <a:endParaRPr lang="zh-CN" sz="980"/>
          </a:p>
        </p:txBody>
      </p:sp>
      <p:sp>
        <p:nvSpPr>
          <p:cNvPr id="36" name="StepAnchor16"/>
          <p:cNvSpPr/>
          <p:nvPr/>
        </p:nvSpPr>
        <p:spPr>
          <a:xfrm>
            <a:off x="9546336" y="3017520"/>
            <a:ext cx="201168" cy="201168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0" name="TimelineArrow40"/>
          <p:cNvSpPr txBox="1"/>
          <p:nvPr/>
        </p:nvSpPr>
        <p:spPr>
          <a:xfrm>
            <a:off x="1828800" y="301752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41" name="TimelineArrow41"/>
          <p:cNvSpPr txBox="1"/>
          <p:nvPr/>
        </p:nvSpPr>
        <p:spPr>
          <a:xfrm>
            <a:off x="3200400" y="301752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42" name="TimelineArrow42"/>
          <p:cNvSpPr txBox="1"/>
          <p:nvPr/>
        </p:nvSpPr>
        <p:spPr>
          <a:xfrm>
            <a:off x="4572000" y="301752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4E6FAE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43" name="TimelineArrow43"/>
          <p:cNvSpPr txBox="1"/>
          <p:nvPr/>
        </p:nvSpPr>
        <p:spPr>
          <a:xfrm>
            <a:off x="5943600" y="301752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1F5EAB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44" name="TimelineArrow44"/>
          <p:cNvSpPr txBox="1"/>
          <p:nvPr/>
        </p:nvSpPr>
        <p:spPr>
          <a:xfrm>
            <a:off x="7315200" y="301752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38A37A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45" name="TimelineArrow45"/>
          <p:cNvSpPr txBox="1"/>
          <p:nvPr/>
        </p:nvSpPr>
        <p:spPr>
          <a:xfrm>
            <a:off x="8686800" y="3017520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C8872D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1700"/>
          </a:p>
        </p:txBody>
      </p:sp>
      <p:sp>
        <p:nvSpPr>
          <p:cNvPr id="60" name="Note"/>
          <p:cNvSpPr txBox="1"/>
          <p:nvPr/>
        </p:nvSpPr>
        <p:spPr>
          <a:xfrm>
            <a:off x="868680" y="5349240"/>
            <a:ext cx="9601200" cy="594360"/>
          </a:xfrm>
          <a:prstGeom prst="rect">
            <a:avLst/>
          </a:prstGeom>
          <a:solidFill>
            <a:srgbClr val="FFF1DF"/>
          </a:solidFill>
          <a:ln w="12700">
            <a:solidFill>
              <a:srgbClr val="D8B48A"/>
            </a:solidFill>
          </a:ln>
        </p:spPr>
        <p:txBody>
          <a:bodyPr wrap="square" lIns="109728" tIns="73152" rIns="109728" bIns="54864" anchor="ctr"/>
          <a:lstStyle/>
          <a:p>
            <a:pPr algn="l"/>
            <a:r>
              <a:rPr lang="zh-CN" sz="1270">
                <a:solidFill>
                  <a:srgbClr val="6A5B49"/>
                </a:solidFill>
                <a:latin typeface="Microsoft YaHei"/>
                <a:ea typeface="Microsoft YaHei"/>
                <a:cs typeface="Microsoft YaHei"/>
              </a:rPr>
              <a:t>这里可以补一句当前实现状态：网关本体 OTA 主流程已经打通，LoRa 子节点 OTA 还在继续完善，所以现阶段更适合表述为“基础升级链路已具备”</a:t>
            </a:r>
            <a:endParaRPr lang="zh-CN" sz="1270"/>
          </a:p>
        </p:txBody>
      </p:sp>
      <p:sp>
        <p:nvSpPr>
          <p:cNvPr id="7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16 / 18</a:t>
            </a:r>
            <a:endParaRPr lang="zh-CN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31520" y="77724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800" b="1">
                <a:solidFill>
                  <a:srgbClr val="163B66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  <a:endParaRPr lang="zh-CN" sz="2800"/>
          </a:p>
        </p:txBody>
      </p:sp>
      <p:sp>
        <p:nvSpPr>
          <p:cNvPr id="4" name="TitleAccent"/>
          <p:cNvSpPr/>
          <p:nvPr/>
        </p:nvSpPr>
        <p:spPr>
          <a:xfrm>
            <a:off x="749808" y="1389888"/>
            <a:ext cx="1143000" cy="54864"/>
          </a:xfrm>
          <a:prstGeom prst="rect">
            <a:avLst/>
          </a:prstGeom>
          <a:solidFill>
            <a:srgbClr val="76D0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0" name="ItemNo0"/>
          <p:cNvSpPr txBox="1"/>
          <p:nvPr/>
        </p:nvSpPr>
        <p:spPr>
          <a:xfrm>
            <a:off x="749808" y="1856232"/>
            <a:ext cx="585216" cy="585216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700"/>
          </a:p>
        </p:txBody>
      </p:sp>
      <p:sp>
        <p:nvSpPr>
          <p:cNvPr id="11" name="ItemLabel0"/>
          <p:cNvSpPr txBox="1"/>
          <p:nvPr/>
        </p:nvSpPr>
        <p:spPr>
          <a:xfrm>
            <a:off x="1481328" y="1783080"/>
            <a:ext cx="1965960" cy="77724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  <a:endParaRPr lang="zh-CN" sz="1850"/>
          </a:p>
        </p:txBody>
      </p:sp>
      <p:sp>
        <p:nvSpPr>
          <p:cNvPr id="12" name="ItemDesc0"/>
          <p:cNvSpPr txBox="1"/>
          <p:nvPr/>
        </p:nvSpPr>
        <p:spPr>
          <a:xfrm>
            <a:off x="3584448" y="1783080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5EAB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完成 ESP32 网关原型系统设计，实现多源感知、LoRa 接入、WiFi/Cat1 联网与 MQTT 平台交互</a:t>
            </a:r>
            <a:endParaRPr lang="zh-CN" sz="1380"/>
          </a:p>
        </p:txBody>
      </p:sp>
      <p:sp>
        <p:nvSpPr>
          <p:cNvPr id="13" name="ItemTail0"/>
          <p:cNvSpPr/>
          <p:nvPr/>
        </p:nvSpPr>
        <p:spPr>
          <a:xfrm>
            <a:off x="10186416" y="1783080"/>
            <a:ext cx="109728" cy="777240"/>
          </a:xfrm>
          <a:prstGeom prst="rect">
            <a:avLst/>
          </a:prstGeom>
          <a:solidFill>
            <a:srgbClr val="1F5EAB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4" name="ItemNo1"/>
          <p:cNvSpPr txBox="1"/>
          <p:nvPr/>
        </p:nvSpPr>
        <p:spPr>
          <a:xfrm>
            <a:off x="749808" y="3154680"/>
            <a:ext cx="585216" cy="585216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700"/>
          </a:p>
        </p:txBody>
      </p:sp>
      <p:sp>
        <p:nvSpPr>
          <p:cNvPr id="15" name="ItemLabel1"/>
          <p:cNvSpPr txBox="1"/>
          <p:nvPr/>
        </p:nvSpPr>
        <p:spPr>
          <a:xfrm>
            <a:off x="1481328" y="3081528"/>
            <a:ext cx="1965960" cy="777240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  <a:endParaRPr lang="zh-CN" sz="1850"/>
          </a:p>
        </p:txBody>
      </p:sp>
      <p:sp>
        <p:nvSpPr>
          <p:cNvPr id="16" name="ItemDesc1"/>
          <p:cNvSpPr txBox="1"/>
          <p:nvPr/>
        </p:nvSpPr>
        <p:spPr>
          <a:xfrm>
            <a:off x="3584448" y="3081528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37A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网关空气数据已经切换为真实采集，网关 OTA 主流程也已接入当前系统并完成联调</a:t>
            </a:r>
            <a:endParaRPr lang="zh-CN" sz="1380"/>
          </a:p>
        </p:txBody>
      </p:sp>
      <p:sp>
        <p:nvSpPr>
          <p:cNvPr id="17" name="ItemTail1"/>
          <p:cNvSpPr/>
          <p:nvPr/>
        </p:nvSpPr>
        <p:spPr>
          <a:xfrm>
            <a:off x="10186416" y="3081528"/>
            <a:ext cx="109728" cy="777240"/>
          </a:xfrm>
          <a:prstGeom prst="rect">
            <a:avLst/>
          </a:prstGeom>
          <a:solidFill>
            <a:srgbClr val="38A37A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18" name="ItemNo2"/>
          <p:cNvSpPr txBox="1"/>
          <p:nvPr/>
        </p:nvSpPr>
        <p:spPr>
          <a:xfrm>
            <a:off x="749808" y="4453128"/>
            <a:ext cx="585216" cy="585216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1700"/>
          </a:p>
        </p:txBody>
      </p:sp>
      <p:sp>
        <p:nvSpPr>
          <p:cNvPr id="19" name="ItemLabel2"/>
          <p:cNvSpPr txBox="1"/>
          <p:nvPr/>
        </p:nvSpPr>
        <p:spPr>
          <a:xfrm>
            <a:off x="1481328" y="4379976"/>
            <a:ext cx="1965960" cy="777240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73152" tIns="36576" rIns="73152" bIns="36576" anchor="ctr"/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后续方向</a:t>
            </a:r>
            <a:endParaRPr lang="zh-CN" sz="1850"/>
          </a:p>
        </p:txBody>
      </p:sp>
      <p:sp>
        <p:nvSpPr>
          <p:cNvPr id="20" name="ItemDesc2"/>
          <p:cNvSpPr txBox="1"/>
          <p:nvPr/>
        </p:nvSpPr>
        <p:spPr>
          <a:xfrm>
            <a:off x="3584448" y="4379976"/>
            <a:ext cx="6492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872D"/>
            </a:solidFill>
          </a:ln>
        </p:spPr>
        <p:txBody>
          <a:bodyPr wrap="square" lIns="146304" tIns="73152" rIns="146304" bIns="54864" anchor="ctr"/>
          <a:lstStyle/>
          <a:p>
            <a:pPr algn="l"/>
            <a:r>
              <a:rPr lang="zh-CN" sz="1380">
                <a:solidFill>
                  <a:srgbClr val="33485B"/>
                </a:solidFill>
                <a:latin typeface="Microsoft YaHei"/>
                <a:ea typeface="Microsoft YaHei"/>
                <a:cs typeface="Microsoft YaHei"/>
              </a:rPr>
              <a:t>继续完善 LoRa 子节点 OTA、复杂网络下的升级稳定性，以及长期部署时的结构化可靠性</a:t>
            </a:r>
            <a:endParaRPr lang="zh-CN" sz="1380"/>
          </a:p>
        </p:txBody>
      </p:sp>
      <p:sp>
        <p:nvSpPr>
          <p:cNvPr id="21" name="ItemTail2"/>
          <p:cNvSpPr/>
          <p:nvPr/>
        </p:nvSpPr>
        <p:spPr>
          <a:xfrm>
            <a:off x="10186416" y="4379976"/>
            <a:ext cx="109728" cy="777240"/>
          </a:xfrm>
          <a:prstGeom prst="rect">
            <a:avLst/>
          </a:prstGeom>
          <a:solidFill>
            <a:srgbClr val="C8872D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0" name="FooterLine"/>
          <p:cNvSpPr/>
          <p:nvPr/>
        </p:nvSpPr>
        <p:spPr>
          <a:xfrm>
            <a:off x="411480" y="6419088"/>
            <a:ext cx="9692640" cy="18288"/>
          </a:xfrm>
          <a:prstGeom prst="rect">
            <a:avLst/>
          </a:prstGeom>
          <a:solidFill>
            <a:srgbClr val="6EC9A4"/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1" name="PageLabel"/>
          <p:cNvSpPr txBox="1"/>
          <p:nvPr/>
        </p:nvSpPr>
        <p:spPr>
          <a:xfrm>
            <a:off x="10149840" y="6172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1100">
                <a:solidFill>
                  <a:srgbClr val="5A6A85"/>
                </a:solidFill>
                <a:latin typeface="Microsoft YaHei"/>
                <a:ea typeface="Microsoft YaHei"/>
                <a:cs typeface="Microsoft YaHei"/>
              </a:rPr>
              <a:t>17 / 18</a:t>
            </a:r>
            <a:endParaRPr lang="zh-CN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2971800" y="1645920"/>
            <a:ext cx="548640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" name="Thanks"/>
          <p:cNvSpPr txBox="1"/>
          <p:nvPr/>
        </p:nvSpPr>
        <p:spPr>
          <a:xfrm>
            <a:off x="3154680" y="1965960"/>
            <a:ext cx="512064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3000" b="1">
                <a:solidFill>
                  <a:srgbClr val="1B4F8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  <a:endParaRPr lang="zh-CN" sz="3000"/>
          </a:p>
          <a:p>
            <a:pPr algn="ctr"/>
            <a:r>
              <a:rPr lang="zh-CN" sz="1500">
                <a:solidFill>
                  <a:srgbClr val="4F617A"/>
                </a:solidFill>
                <a:latin typeface="Microsoft YaHei"/>
                <a:ea typeface="Microsoft YaHei"/>
                <a:cs typeface="Microsoft YaHei"/>
              </a:rPr>
              <a:t>敬请各位老师批评指正</a:t>
            </a:r>
            <a:endParaRPr lang="zh-CN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18</Slides>
  <PresentationFormat>On-screen Show (16:9)</PresentationFormat>
  <Company>OpenAI</Company>
  <HeadingPairs>
    <vt:vector size="2" baseType="variant">
      <vt:variant>
        <vt:lpstr>标题</vt:lpstr>
      </vt:variant>
      <vt:variant>
        <vt:i4>18</vt:i4>
      </vt:variant>
    </vt:vector>
  </HeadingPairs>
  <TitlesOfParts>
    <vt:vector size="18" baseType="lpstr">
      <vt:lpstr>封面</vt:lpstr>
      <vt:lpstr>答辩结构</vt:lpstr>
      <vt:lpstr>研究背景与意义</vt:lpstr>
      <vt:lpstr>国内外研究现状</vt:lpstr>
      <vt:lpstr>系统方案设计</vt:lpstr>
      <vt:lpstr>系统目标与总体方案</vt:lpstr>
      <vt:lpstr>系统总体架构</vt:lpstr>
      <vt:lpstr>硬件设计</vt:lpstr>
      <vt:lpstr>软件设计与关键任务</vt:lpstr>
      <vt:lpstr>系统主流程图</vt:lpstr>
      <vt:lpstr>关键实现与测试</vt:lpstr>
      <vt:lpstr>关键功能实现</vt:lpstr>
      <vt:lpstr>数据上传流程图</vt:lpstr>
      <vt:lpstr>测试结果</vt:lpstr>
      <vt:lpstr>OTA升级设计</vt:lpstr>
      <vt:lpstr>OTA升级流程图</vt:lpstr>
      <vt:lpstr>总结与展望</vt:lpstr>
      <vt:lpstr>感谢聆听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基于ESP32的农业智能助手答辩PPT</dc:title>
  <dc:creator>OpenAI Codex</dc:creator>
  <cp:lastModifiedBy>OpenAI Codex</cp:lastModifiedBy>
  <dcterms:created xsi:type="dcterms:W3CDTF">2026-05-23T00:36:35Z</dcterms:created>
  <dcterms:modified xsi:type="dcterms:W3CDTF">2026-05-23T00:36:35Z</dcterms:modified>
</cp:coreProperties>
</file>