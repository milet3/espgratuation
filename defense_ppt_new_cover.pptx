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  <p:defaultTextStyle>
    <a:defPPr/>
    <a:lvl1pPr marL="0" indent="0">
      <a:defRPr sz="1800"/>
    </a:lvl1pPr>
    <a:lvl2pPr marL="457200" indent="0">
      <a:defRPr sz="1600"/>
    </a:lvl2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 b="1"/>
      </a:lvl1pPr>
    </p:titleStyle>
    <p:bodyStyle>
      <a:lvl1pPr marL="0" indent="0">
        <a:defRPr sz="1800"/>
      </a:lvl1pPr>
    </p:bodyStyle>
    <p:otherStyle>
      <a:lvl1pPr marL="0" indent="0">
        <a:defRPr sz="16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960120" y="1234440"/>
            <a:ext cx="6035040" cy="2423160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1234440" y="155448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1B4F8F"/>
                </a:solidFill>
                <a:latin typeface="Microsoft YaHei"/>
                <a:ea typeface="Microsoft YaHei"/>
                <a:cs typeface="Microsoft YaHei"/>
              </a:rPr>
              <a:t>基于 ESP32 的农业智能助手</a:t>
            </a:r>
            <a:endParaRPr lang="zh-CN" sz="2600"/>
          </a:p>
          <a:p>
            <a:pPr algn="l"/>
            <a:r>
              <a:rPr lang="zh-CN" sz="2600" b="1">
                <a:solidFill>
                  <a:srgbClr val="1B4F8F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  <a:endParaRPr lang="zh-CN" sz="2600"/>
          </a:p>
        </p:txBody>
      </p:sp>
      <p:sp>
        <p:nvSpPr>
          <p:cNvPr id="5" name="Subtitle"/>
          <p:cNvSpPr txBox="1"/>
          <p:nvPr/>
        </p:nvSpPr>
        <p:spPr>
          <a:xfrm>
            <a:off x="1261872" y="278892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355E86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  <a:endParaRPr lang="zh-CN" sz="1700"/>
          </a:p>
          <a:p>
            <a:pPr algn="l"/>
            <a:r>
              <a:rPr lang="zh-CN" sz="12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围绕多源感知、远程通信与设备维护展开</a:t>
            </a:r>
            <a:endParaRPr lang="zh-CN" sz="1250"/>
          </a:p>
          <a:p>
            <a:pPr algn="l"/>
            <a:r>
              <a:rPr lang="zh-CN" sz="12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2026.05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研究背景与意义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国内外研究现状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系统目标与总体方案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硬件与软件设计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关键功能实现与测试结果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OTA 升级设计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总结与展望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02 / 13</a:t>
            </a:r>
            <a:endParaRPr lang="zh-C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研究背景与意义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农业现场监测点位分散，人工巡检、手工记录和现场判断效率较低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系统需要同时兼顾“采得到、传得出、连得上、还能继续维护”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ESP32 具备接口丰富、开发灵活、成本适中的特点，适合作为网关主控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项目目标是面向智慧农业场景构建一套较完整的物联网原型系统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03 / 13</a:t>
            </a:r>
            <a:endParaRPr lang="zh-C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LoRa 适合农业现场低功耗、远距离、多节点接入场景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农业监测系统正从单点采集转向平台化、可视化和远程管理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FreeRTOS、LwIP 与多任务组织方式对联网型嵌入式系统十分关键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现有方案常偏重某一环节，而多链路通信与维护能力的一体化整合仍有空间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04 / 13</a:t>
            </a:r>
            <a:endParaRPr lang="zh-C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系统目标与总体方案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完成土壤温湿度、电导率、氮磷钾等参数采集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支持网关空气温湿度与光照采集，以及 LoRa 子节点环境数据接入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采用 WiFi 作为主链路，Cat1 作为备份链路，并通过 MQTT 上传到 OneNET 平台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结合 NVS 本地存储与 OTA 远程维护，提高系统可部署性和后期可维护性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05 / 13</a:t>
            </a:r>
            <a:endParaRPr lang="zh-CN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  <a:endParaRPr lang="zh-CN" sz="2600"/>
          </a:p>
        </p:txBody>
      </p:sp>
      <p:sp>
        <p:nvSpPr>
          <p:cNvPr id="4" name="Box4"/>
          <p:cNvSpPr txBox="1"/>
          <p:nvPr/>
        </p:nvSpPr>
        <p:spPr>
          <a:xfrm>
            <a:off x="822960" y="1828800"/>
            <a:ext cx="2743200" cy="2286000"/>
          </a:xfrm>
          <a:prstGeom prst="rect">
            <a:avLst/>
          </a:prstGeom>
          <a:solidFill>
            <a:srgbClr val="EAF4FF"/>
          </a:solidFill>
          <a:ln w="19050">
            <a:solidFill>
              <a:srgbClr val="1F5EAB"/>
            </a:solidFill>
          </a:ln>
        </p:spPr>
        <p:txBody>
          <a:bodyPr wrap="square" lIns="137160" tIns="164592" rIns="137160" bIns="137160" anchor="ctr"/>
          <a:lstStyle/>
          <a:p>
            <a:pPr algn="ctr"/>
            <a:r>
              <a:rPr lang="zh-CN" sz="22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感知层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土壤传感器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网关空气传感器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LoRa 子节点</a:t>
            </a:r>
            <a:endParaRPr lang="zh-CN" sz="1700"/>
          </a:p>
        </p:txBody>
      </p:sp>
      <p:sp>
        <p:nvSpPr>
          <p:cNvPr id="5" name="Box5"/>
          <p:cNvSpPr txBox="1"/>
          <p:nvPr/>
        </p:nvSpPr>
        <p:spPr>
          <a:xfrm>
            <a:off x="4160520" y="1828800"/>
            <a:ext cx="2743200" cy="228600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137160" tIns="164592" rIns="137160" bIns="137160" anchor="ctr"/>
          <a:lstStyle/>
          <a:p>
            <a:pPr algn="ctr"/>
            <a:r>
              <a:rPr lang="zh-CN" sz="22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网关层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ESP32 主控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WiFi / Cat1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LoRa / MQTT / NVS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OTA 维护</a:t>
            </a:r>
            <a:endParaRPr lang="zh-CN" sz="1700"/>
          </a:p>
        </p:txBody>
      </p:sp>
      <p:sp>
        <p:nvSpPr>
          <p:cNvPr id="6" name="Box6"/>
          <p:cNvSpPr txBox="1"/>
          <p:nvPr/>
        </p:nvSpPr>
        <p:spPr>
          <a:xfrm>
            <a:off x="7498079" y="1828800"/>
            <a:ext cx="2743200" cy="2286000"/>
          </a:xfrm>
          <a:prstGeom prst="rect">
            <a:avLst/>
          </a:prstGeom>
          <a:solidFill>
            <a:srgbClr val="F5F7FB"/>
          </a:solidFill>
          <a:ln w="19050">
            <a:solidFill>
              <a:srgbClr val="5A6A85"/>
            </a:solidFill>
          </a:ln>
        </p:spPr>
        <p:txBody>
          <a:bodyPr wrap="square" lIns="137160" tIns="164592" rIns="137160" bIns="137160" anchor="ctr"/>
          <a:lstStyle/>
          <a:p>
            <a:pPr algn="ctr"/>
            <a:r>
              <a:rPr lang="zh-CN" sz="2200" b="1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平台层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OneNET 云平台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数据展示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远程监控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状态交互</a:t>
            </a:r>
            <a:endParaRPr lang="zh-CN" sz="1700"/>
          </a:p>
        </p:txBody>
      </p:sp>
      <p:sp>
        <p:nvSpPr>
          <p:cNvPr id="7" name="FlowText"/>
          <p:cNvSpPr txBox="1"/>
          <p:nvPr/>
        </p:nvSpPr>
        <p:spPr>
          <a:xfrm>
            <a:off x="1234440" y="452628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0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现场采集  →  网关汇聚与调度  →  平台展示与管理</a:t>
            </a:r>
            <a:endParaRPr lang="zh-CN" sz="2000"/>
          </a:p>
        </p:txBody>
      </p:sp>
      <p:sp>
        <p:nvSpPr>
          <p:cNvPr id="8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9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06 / 13</a:t>
            </a:r>
            <a:endParaRPr lang="zh-CN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主控核心：ESP32，负责数据处理、任务调度和多模块协同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无线通信：LoRa 模块用于子节点接入，EC800 Cat1 模块用于备份联网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传感器部分：土壤传感器经 UART/Modbus 接入，SHT30 与 BH1750 经 I2C 接入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辅助单元：RGB 指示、供电脚控制、本地 NVS 参数保存，为后续工程化预留接口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07 / 13</a:t>
            </a:r>
            <a:endParaRPr lang="zh-CN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软件设计与关键任务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app_main 完成 NVS、GPIO、WiFi、LoRa、传感器与任务初始化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WiFi AP 配网模块提供网页配置，联网成功后自动启动 MQTT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统一数据上传任务周期性组织网关空气数据、土壤数据和节点缓存数据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LoRa 轮询任务负责节点在线查询、协议解析与缓存更新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OTA Bootstrap 任务在 MQTT 建立后执行版本上报、任务检查与升级触发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08 / 13</a:t>
            </a:r>
            <a:endParaRPr lang="zh-CN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关键功能实现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WiFi 配网：AP 热点 + 网页提交 WiFi 信息，适合现场部署与重配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LoRa 通信：支持在线查询、长度判断、CRC8 校验和节点数据解析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MQTT 交互：实现主题订阅、属性上报、平台指令处理和节点代理上传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土壤采集：通过 Modbus 指令读取温湿度、电导率与 NPK 参数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网关空气采集：SHT30 读取温湿度，BH1750 读取光照后进入统一上传流程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09 / 13</a:t>
            </a:r>
            <a:endParaRPr lang="zh-CN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基础功能测试：主控启动、NVS 初始化、GPIO 控制、LoRa 与传感器初始化均正常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通信测试：LoRa 查询与数据接收正常，WiFi AP 配网成功，Cat1 备份链路可用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平台测试：网关空气数据、土壤数据和 LoRa 节点数据均可被平台正确解析显示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整体结论：系统已经达到当前阶段的设计目标，具备较完整的远程监测能力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10 / 13</a:t>
            </a:r>
            <a:endParaRPr lang="zh-CN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OTA 升级设计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系统已实现网关本体 OTA 主流程：版本上报、任务检测、升级通知响应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通过 HTTP/HTTPS 下载升级包，并写入 ota_0 / ota_1 分区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结合写入校验、异常处理、重启确认和升级结果回报，形成基本闭环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当前仍需继续完善复杂网络环境下的多轮升级验证，以及 LoRa 子节点 OTA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11 / 13</a:t>
            </a:r>
            <a:endParaRPr lang="zh-C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AccentBar"/>
          <p:cNvSpPr/>
          <p:nvPr/>
        </p:nvSpPr>
        <p:spPr>
          <a:xfrm>
            <a:off x="502920" y="201168"/>
            <a:ext cx="109728" cy="256032"/>
          </a:xfrm>
          <a:prstGeom prst="rect">
            <a:avLst/>
          </a:prstGeom>
          <a:solidFill>
            <a:srgbClr val="71C8A6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 lang="zh-CN" sz="2600"/>
          </a:p>
        </p:txBody>
      </p:sp>
      <p:sp>
        <p:nvSpPr>
          <p:cNvPr id="5" name="ContentBox"/>
          <p:cNvSpPr txBox="1"/>
          <p:nvPr/>
        </p:nvSpPr>
        <p:spPr>
          <a:xfrm>
            <a:off x="685800" y="1005840"/>
            <a:ext cx="10744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3"/>
            </a:solidFill>
          </a:ln>
        </p:spPr>
        <p:txBody>
          <a:bodyPr wrap="square" lIns="201168" tIns="109728" rIns="201168" bIns="109728" anchor="t"/>
          <a:lstStyle/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本课题完成了以 ESP32 为核心的农业智能助手原型系统设计与实现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系统把多源感知、LoRa 节点接入、WiFi/Cat1 联网、MQTT 平台交互和 OTA 维护整合到同一链路中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现阶段系统已具备较好的工程可行性，也为后续 PCB 集成和长期稳定性优化打下基础</a:t>
            </a:r>
            <a:endParaRPr lang="zh-CN" sz="1900"/>
          </a:p>
          <a:p>
            <a:pPr algn="l"/>
            <a:r>
              <a:rPr lang="zh-CN" sz="19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• 后续可继续推进多节点管理优化、平台告警与日志功能、子节点 OTA 和工程化封装</a:t>
            </a:r>
            <a:endParaRPr lang="zh-CN" sz="1900"/>
          </a:p>
        </p:txBody>
      </p:sp>
      <p:sp>
        <p:nvSpPr>
          <p:cNvPr id="6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12 / 13</a:t>
            </a:r>
            <a:endParaRPr lang="zh-C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2971800" y="1645920"/>
            <a:ext cx="548640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hanks"/>
          <p:cNvSpPr txBox="1"/>
          <p:nvPr/>
        </p:nvSpPr>
        <p:spPr>
          <a:xfrm>
            <a:off x="3154680" y="196596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3000" b="1">
                <a:solidFill>
                  <a:srgbClr val="1B4F8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  <a:endParaRPr lang="zh-CN" sz="3000"/>
          </a:p>
          <a:p>
            <a:pPr algn="ctr"/>
            <a:r>
              <a:rPr lang="zh-CN" sz="1500">
                <a:solidFill>
                  <a:srgbClr val="4F617A"/>
                </a:solidFill>
                <a:latin typeface="Microsoft YaHei"/>
                <a:ea typeface="Microsoft YaHei"/>
                <a:cs typeface="Microsoft YaHei"/>
              </a:rPr>
              <a:t>敬请各位老师批评指正</a:t>
            </a:r>
            <a:endParaRPr lang="zh-CN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PresentationFormat>On-screen Show (16:9)</PresentationFormat>
  <Company>OpenAI</Company>
  <HeadingPairs>
    <vt:vector size="2" baseType="variant">
      <vt:variant>
        <vt:lpstr>标题</vt:lpstr>
      </vt:variant>
      <vt:variant>
        <vt:i4>13</vt:i4>
      </vt:variant>
    </vt:vector>
  </HeadingPairs>
  <TitlesOfParts>
    <vt:vector size="13" baseType="lpstr">
      <vt:lpstr>封面</vt:lpstr>
      <vt:lpstr>目录</vt:lpstr>
      <vt:lpstr>研究背景与意义</vt:lpstr>
      <vt:lpstr>国内外研究现状</vt:lpstr>
      <vt:lpstr>系统目标与总体方案</vt:lpstr>
      <vt:lpstr>系统总体架构</vt:lpstr>
      <vt:lpstr>硬件设计</vt:lpstr>
      <vt:lpstr>软件设计与关键任务</vt:lpstr>
      <vt:lpstr>关键功能实现</vt:lpstr>
      <vt:lpstr>测试结果</vt:lpstr>
      <vt:lpstr>OTA升级设计</vt:lpstr>
      <vt:lpstr>总结与展望</vt:lpstr>
      <vt:lpstr>感谢聆听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基于ESP32的农业智能助手答辩PPT</dc:title>
  <dc:creator>OpenAI Codex</dc:creator>
  <cp:lastModifiedBy>OpenAI Codex</cp:lastModifiedBy>
  <dcterms:created xsi:type="dcterms:W3CDTF">2026-05-22T16:59:46Z</dcterms:created>
  <dcterms:modified xsi:type="dcterms:W3CDTF">2026-05-22T16:59:46Z</dcterms:modified>
</cp:coreProperties>
</file>